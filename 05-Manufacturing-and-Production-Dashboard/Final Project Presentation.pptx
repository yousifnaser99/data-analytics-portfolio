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D4481E-3C53-491B-92E1-37C56F741856}" v="3" dt="2025-11-30T12:58:18.758"/>
    <p1510:client id="{2ADB94C4-9267-4C31-B1BA-632DE59C41C2}" v="243" dt="2025-11-30T20:51:01.1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D95E231-2741-441C-9B8F-21900701E88A}" type="datetimeFigureOut">
              <a:t>11/30/2025</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DEBB1640-49A5-4705-B2ED-C1B0F832CA1D}" type="slidenum">
              <a:t>‹#›</a:t>
            </a:fld>
            <a:endParaRPr lang="en-US"/>
          </a:p>
        </p:txBody>
      </p:sp>
    </p:spTree>
    <p:extLst>
      <p:ext uri="{BB962C8B-B14F-4D97-AF65-F5344CB8AC3E}">
        <p14:creationId xmlns:p14="http://schemas.microsoft.com/office/powerpoint/2010/main" val="42235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786482"/>
            <a:ext cx="4557713" cy="2194471"/>
          </a:xfrm>
          <a:prstGeom prst="rect">
            <a:avLst/>
          </a:prstGeom>
          <a:noFill/>
          <a:ln/>
        </p:spPr>
        <p:txBody>
          <a:bodyPr wrap="square" lIns="0" tIns="0" rIns="0" bIns="0" rtlCol="0" anchor="t">
            <a:spAutoFit/>
          </a:bodyPr>
          <a:lstStyle/>
          <a:p>
            <a:pPr marL="0" indent="0" algn="l">
              <a:lnSpc>
                <a:spcPts val="4300"/>
              </a:lnSpc>
              <a:buNone/>
            </a:pPr>
            <a:r>
              <a:rPr lang="en-US" sz="3294" b="1" dirty="0">
                <a:solidFill>
                  <a:srgbClr val="1A1A1A"/>
                </a:solidFill>
              </a:rPr>
              <a:t>Manufacturing Downtime Analysis and Optimization Project</a:t>
            </a:r>
            <a:endParaRPr lang="en-US" sz="3294" dirty="0"/>
          </a:p>
        </p:txBody>
      </p:sp>
      <p:sp>
        <p:nvSpPr>
          <p:cNvPr id="4" name="Text 1"/>
          <p:cNvSpPr/>
          <p:nvPr/>
        </p:nvSpPr>
        <p:spPr>
          <a:xfrm>
            <a:off x="571500" y="3123828"/>
            <a:ext cx="4557713" cy="554639"/>
          </a:xfrm>
          <a:prstGeom prst="rect">
            <a:avLst/>
          </a:prstGeom>
          <a:noFill/>
          <a:ln/>
        </p:spPr>
        <p:txBody>
          <a:bodyPr wrap="square" lIns="127508" tIns="0" rIns="0" bIns="0" rtlCol="0" anchor="t">
            <a:spAutoFit/>
          </a:bodyPr>
          <a:lstStyle/>
          <a:p>
            <a:pPr marL="0" indent="0" algn="l">
              <a:lnSpc>
                <a:spcPts val="2200"/>
              </a:lnSpc>
              <a:buNone/>
            </a:pPr>
            <a:r>
              <a:rPr lang="en-US" dirty="0">
                <a:solidFill>
                  <a:srgbClr val="333333"/>
                </a:solidFill>
              </a:rPr>
              <a:t>Analytical Insights to Enhance Plant Reliability and Operational Efficiency</a:t>
            </a:r>
            <a:endParaRPr lang="en-US">
              <a:ea typeface="Calibri"/>
              <a:cs typeface="Calibri"/>
            </a:endParaRPr>
          </a:p>
        </p:txBody>
      </p:sp>
      <p:sp>
        <p:nvSpPr>
          <p:cNvPr id="5" name="Text 2"/>
          <p:cNvSpPr/>
          <p:nvPr/>
        </p:nvSpPr>
        <p:spPr>
          <a:xfrm>
            <a:off x="571500" y="4034656"/>
            <a:ext cx="2105898" cy="213776"/>
          </a:xfrm>
          <a:prstGeom prst="rect">
            <a:avLst/>
          </a:prstGeom>
          <a:noFill/>
          <a:ln/>
        </p:spPr>
        <p:txBody>
          <a:bodyPr wrap="none" lIns="0" tIns="0" rIns="0" bIns="0" rtlCol="0" anchor="t">
            <a:spAutoFit/>
          </a:bodyPr>
          <a:lstStyle/>
          <a:p>
            <a:pPr marL="0" indent="0" algn="l">
              <a:lnSpc>
                <a:spcPts val="1800"/>
              </a:lnSpc>
              <a:buNone/>
            </a:pPr>
            <a:r>
              <a:rPr lang="en-US" sz="1200" b="1" dirty="0">
                <a:solidFill>
                  <a:srgbClr val="1A1A1A"/>
                </a:solidFill>
              </a:rPr>
              <a:t>Team</a:t>
            </a:r>
            <a:r>
              <a:rPr lang="en-US" sz="950" b="1" dirty="0">
                <a:solidFill>
                  <a:srgbClr val="1A1A1A"/>
                </a:solidFill>
              </a:rPr>
              <a:t>:</a:t>
            </a:r>
            <a:r>
              <a:rPr lang="en-US" sz="1050" dirty="0">
                <a:solidFill>
                  <a:srgbClr val="333333"/>
                </a:solidFill>
              </a:rPr>
              <a:t> </a:t>
            </a:r>
            <a:r>
              <a:rPr lang="en-US" sz="1100" dirty="0">
                <a:solidFill>
                  <a:srgbClr val="333333"/>
                </a:solidFill>
              </a:rPr>
              <a:t>Team 184 (DKH3_DATA2_G1)</a:t>
            </a:r>
            <a:endParaRPr lang="en-US" sz="1100" dirty="0"/>
          </a:p>
        </p:txBody>
      </p:sp>
      <p:sp>
        <p:nvSpPr>
          <p:cNvPr id="6" name="Text 3"/>
          <p:cNvSpPr/>
          <p:nvPr/>
        </p:nvSpPr>
        <p:spPr>
          <a:xfrm>
            <a:off x="571500" y="4348981"/>
            <a:ext cx="1290353" cy="213776"/>
          </a:xfrm>
          <a:prstGeom prst="rect">
            <a:avLst/>
          </a:prstGeom>
          <a:noFill/>
          <a:ln/>
        </p:spPr>
        <p:txBody>
          <a:bodyPr wrap="none" lIns="0" tIns="0" rIns="0" bIns="0" rtlCol="0" anchor="t">
            <a:spAutoFit/>
          </a:bodyPr>
          <a:lstStyle/>
          <a:p>
            <a:pPr marL="0" indent="0" algn="l">
              <a:lnSpc>
                <a:spcPts val="1800"/>
              </a:lnSpc>
              <a:buNone/>
            </a:pPr>
            <a:r>
              <a:rPr lang="en-US" sz="1200" b="1" dirty="0">
                <a:solidFill>
                  <a:srgbClr val="1A1A1A"/>
                </a:solidFill>
              </a:rPr>
              <a:t>Date</a:t>
            </a:r>
            <a:r>
              <a:rPr lang="en-US" sz="950" b="1" dirty="0">
                <a:solidFill>
                  <a:srgbClr val="1A1A1A"/>
                </a:solidFill>
              </a:rPr>
              <a:t>:</a:t>
            </a:r>
            <a:r>
              <a:rPr lang="en-US" sz="1050" dirty="0">
                <a:solidFill>
                  <a:srgbClr val="333333"/>
                </a:solidFill>
              </a:rPr>
              <a:t> </a:t>
            </a:r>
            <a:r>
              <a:rPr lang="en-US" sz="1100" dirty="0">
                <a:solidFill>
                  <a:srgbClr val="333333"/>
                </a:solidFill>
              </a:rPr>
              <a:t>November 2025</a:t>
            </a:r>
            <a:endParaRPr lang="en-US" sz="1100" dirty="0"/>
          </a:p>
        </p:txBody>
      </p:sp>
      <p:sp>
        <p:nvSpPr>
          <p:cNvPr id="7" name="Shape 4"/>
          <p:cNvSpPr/>
          <p:nvPr/>
        </p:nvSpPr>
        <p:spPr>
          <a:xfrm>
            <a:off x="5283672" y="1642588"/>
            <a:ext cx="3729038" cy="1858296"/>
          </a:xfrm>
          <a:prstGeom prst="rect">
            <a:avLst/>
          </a:prstGeom>
          <a:solidFill>
            <a:srgbClr val="FF4500"/>
          </a:solidFill>
          <a:ln/>
        </p:spPr>
      </p:sp>
      <p:pic>
        <p:nvPicPr>
          <p:cNvPr id="8" name="Image 1" descr="preencoded.png"/>
          <p:cNvPicPr>
            <a:picLocks noChangeAspect="1"/>
          </p:cNvPicPr>
          <p:nvPr/>
        </p:nvPicPr>
        <p:blipFill>
          <a:blip r:embed="rId4"/>
          <a:stretch>
            <a:fillRect/>
          </a:stretch>
        </p:blipFill>
        <p:spPr>
          <a:xfrm>
            <a:off x="5485581" y="1642588"/>
            <a:ext cx="3356111" cy="18582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75478"/>
            <a:ext cx="2282741" cy="368049"/>
          </a:xfrm>
          <a:prstGeom prst="rect">
            <a:avLst/>
          </a:prstGeom>
          <a:noFill/>
          <a:ln/>
        </p:spPr>
        <p:txBody>
          <a:bodyPr wrap="none" lIns="0" tIns="0" rIns="0" bIns="85090" rtlCol="0" anchor="t">
            <a:spAutoFit/>
          </a:bodyPr>
          <a:lstStyle/>
          <a:p>
            <a:pPr marL="0" indent="0" algn="l">
              <a:lnSpc>
                <a:spcPts val="2200"/>
              </a:lnSpc>
              <a:buNone/>
            </a:pPr>
            <a:r>
              <a:rPr lang="en-US" sz="2000" b="1" dirty="0">
                <a:solidFill>
                  <a:srgbClr val="1A1A1A"/>
                </a:solidFill>
              </a:rPr>
              <a:t>Project Idea and Goal</a:t>
            </a:r>
            <a:endParaRPr lang="en-US" sz="2000">
              <a:ea typeface="Calibri"/>
              <a:cs typeface="Calibri"/>
            </a:endParaRPr>
          </a:p>
        </p:txBody>
      </p:sp>
      <p:sp>
        <p:nvSpPr>
          <p:cNvPr id="4" name="Text 1"/>
          <p:cNvSpPr/>
          <p:nvPr/>
        </p:nvSpPr>
        <p:spPr>
          <a:xfrm>
            <a:off x="571500" y="1238073"/>
            <a:ext cx="4972050" cy="914400"/>
          </a:xfrm>
          <a:prstGeom prst="rect">
            <a:avLst/>
          </a:prstGeom>
          <a:noFill/>
          <a:ln/>
        </p:spPr>
        <p:txBody>
          <a:bodyPr wrap="square" lIns="0" tIns="0" rIns="0" bIns="0" rtlCol="0" anchor="t">
            <a:spAutoFit/>
          </a:bodyPr>
          <a:lstStyle/>
          <a:p>
            <a:pPr marL="0" indent="0" algn="l">
              <a:lnSpc>
                <a:spcPts val="1800"/>
              </a:lnSpc>
              <a:buNone/>
            </a:pPr>
            <a:r>
              <a:rPr lang="en-US" sz="1400" dirty="0">
                <a:solidFill>
                  <a:srgbClr val="333333"/>
                </a:solidFill>
              </a:rPr>
              <a:t>The project aims to design and develop a comprehensive Power BI analytics solution for monitoring and optimizing manufacturing downtime in a production facility, integrating maintenance, production, equipment, and cost data.</a:t>
            </a:r>
            <a:endParaRPr lang="en-US" sz="1400">
              <a:ea typeface="Calibri"/>
              <a:cs typeface="Calibri"/>
            </a:endParaRPr>
          </a:p>
        </p:txBody>
      </p:sp>
      <p:pic>
        <p:nvPicPr>
          <p:cNvPr id="5" name="Image 1" descr="preencoded.png"/>
          <p:cNvPicPr>
            <a:picLocks noChangeAspect="1"/>
          </p:cNvPicPr>
          <p:nvPr/>
        </p:nvPicPr>
        <p:blipFill>
          <a:blip r:embed="rId4"/>
          <a:stretch>
            <a:fillRect/>
          </a:stretch>
        </p:blipFill>
        <p:spPr>
          <a:xfrm>
            <a:off x="571500" y="2366786"/>
            <a:ext cx="171450" cy="185738"/>
          </a:xfrm>
          <a:prstGeom prst="rect">
            <a:avLst/>
          </a:prstGeom>
        </p:spPr>
      </p:pic>
      <p:sp>
        <p:nvSpPr>
          <p:cNvPr id="6" name="Text 2"/>
          <p:cNvSpPr/>
          <p:nvPr/>
        </p:nvSpPr>
        <p:spPr>
          <a:xfrm>
            <a:off x="850106" y="2366786"/>
            <a:ext cx="2096600" cy="218008"/>
          </a:xfrm>
          <a:prstGeom prst="rect">
            <a:avLst/>
          </a:prstGeom>
          <a:noFill/>
          <a:ln/>
        </p:spPr>
        <p:txBody>
          <a:bodyPr wrap="none" lIns="0" tIns="0" rIns="0" bIns="0" rtlCol="0" anchor="t">
            <a:spAutoFit/>
          </a:bodyPr>
          <a:lstStyle/>
          <a:p>
            <a:pPr marL="0" indent="0" algn="l">
              <a:lnSpc>
                <a:spcPts val="1700"/>
              </a:lnSpc>
              <a:buNone/>
            </a:pPr>
            <a:r>
              <a:rPr lang="en-US" sz="1600" b="1" dirty="0">
                <a:solidFill>
                  <a:srgbClr val="1A1A1A"/>
                </a:solidFill>
              </a:rPr>
              <a:t>Enhance Plant Reliability</a:t>
            </a:r>
            <a:endParaRPr lang="en-US" sz="1600">
              <a:ea typeface="Calibri"/>
              <a:cs typeface="Calibri"/>
            </a:endParaRPr>
          </a:p>
        </p:txBody>
      </p:sp>
      <p:sp>
        <p:nvSpPr>
          <p:cNvPr id="7" name="Text 3"/>
          <p:cNvSpPr/>
          <p:nvPr/>
        </p:nvSpPr>
        <p:spPr>
          <a:xfrm>
            <a:off x="850106" y="2623961"/>
            <a:ext cx="4056560"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rPr>
              <a:t>Increase operational efficiency and reduce unplanned downtime.</a:t>
            </a:r>
            <a:endParaRPr lang="en-US" sz="1200">
              <a:ea typeface="Calibri"/>
              <a:cs typeface="Calibri"/>
            </a:endParaRPr>
          </a:p>
        </p:txBody>
      </p:sp>
      <p:pic>
        <p:nvPicPr>
          <p:cNvPr id="8" name="Image 2" descr="preencoded.png"/>
          <p:cNvPicPr>
            <a:picLocks noChangeAspect="1"/>
          </p:cNvPicPr>
          <p:nvPr/>
        </p:nvPicPr>
        <p:blipFill>
          <a:blip r:embed="rId5"/>
          <a:stretch>
            <a:fillRect/>
          </a:stretch>
        </p:blipFill>
        <p:spPr>
          <a:xfrm>
            <a:off x="571500" y="2931142"/>
            <a:ext cx="150019" cy="185738"/>
          </a:xfrm>
          <a:prstGeom prst="rect">
            <a:avLst/>
          </a:prstGeom>
        </p:spPr>
      </p:pic>
      <p:sp>
        <p:nvSpPr>
          <p:cNvPr id="9" name="Text 4"/>
          <p:cNvSpPr/>
          <p:nvPr/>
        </p:nvSpPr>
        <p:spPr>
          <a:xfrm>
            <a:off x="828675" y="2931142"/>
            <a:ext cx="2422523" cy="218008"/>
          </a:xfrm>
          <a:prstGeom prst="rect">
            <a:avLst/>
          </a:prstGeom>
          <a:noFill/>
          <a:ln/>
        </p:spPr>
        <p:txBody>
          <a:bodyPr wrap="none" lIns="0" tIns="0" rIns="0" bIns="0" rtlCol="0" anchor="t">
            <a:spAutoFit/>
          </a:bodyPr>
          <a:lstStyle/>
          <a:p>
            <a:pPr marL="0" indent="0" algn="l">
              <a:lnSpc>
                <a:spcPts val="1700"/>
              </a:lnSpc>
              <a:buNone/>
            </a:pPr>
            <a:r>
              <a:rPr lang="en-US" sz="1600" b="1" dirty="0">
                <a:solidFill>
                  <a:srgbClr val="1A1A1A"/>
                </a:solidFill>
              </a:rPr>
              <a:t>Provide Data-Driven Insights</a:t>
            </a:r>
            <a:endParaRPr lang="en-US" sz="1600">
              <a:ea typeface="Calibri"/>
              <a:cs typeface="Calibri"/>
            </a:endParaRPr>
          </a:p>
        </p:txBody>
      </p:sp>
      <p:sp>
        <p:nvSpPr>
          <p:cNvPr id="10" name="Text 5"/>
          <p:cNvSpPr/>
          <p:nvPr/>
        </p:nvSpPr>
        <p:spPr>
          <a:xfrm>
            <a:off x="828675" y="3188317"/>
            <a:ext cx="4881208"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rPr>
              <a:t>Transform raw data into effective strategic decisions for management support.</a:t>
            </a:r>
            <a:endParaRPr lang="en-US" sz="1200">
              <a:ea typeface="Calibri"/>
              <a:cs typeface="Calibri"/>
            </a:endParaRPr>
          </a:p>
        </p:txBody>
      </p:sp>
      <p:pic>
        <p:nvPicPr>
          <p:cNvPr id="11" name="Image 3" descr="preencoded.png"/>
          <p:cNvPicPr>
            <a:picLocks noChangeAspect="1"/>
          </p:cNvPicPr>
          <p:nvPr/>
        </p:nvPicPr>
        <p:blipFill>
          <a:blip r:embed="rId6"/>
          <a:stretch>
            <a:fillRect/>
          </a:stretch>
        </p:blipFill>
        <p:spPr>
          <a:xfrm>
            <a:off x="571500" y="3495498"/>
            <a:ext cx="192881" cy="185738"/>
          </a:xfrm>
          <a:prstGeom prst="rect">
            <a:avLst/>
          </a:prstGeom>
        </p:spPr>
      </p:pic>
      <p:sp>
        <p:nvSpPr>
          <p:cNvPr id="12" name="Text 6"/>
          <p:cNvSpPr/>
          <p:nvPr/>
        </p:nvSpPr>
        <p:spPr>
          <a:xfrm>
            <a:off x="871538" y="3495498"/>
            <a:ext cx="1046440" cy="218008"/>
          </a:xfrm>
          <a:prstGeom prst="rect">
            <a:avLst/>
          </a:prstGeom>
          <a:noFill/>
          <a:ln/>
        </p:spPr>
        <p:txBody>
          <a:bodyPr wrap="none" lIns="0" tIns="0" rIns="0" bIns="0" rtlCol="0" anchor="t">
            <a:spAutoFit/>
          </a:bodyPr>
          <a:lstStyle/>
          <a:p>
            <a:pPr marL="0" indent="0" algn="l">
              <a:lnSpc>
                <a:spcPts val="1700"/>
              </a:lnSpc>
              <a:buNone/>
            </a:pPr>
            <a:r>
              <a:rPr lang="en-US" sz="1600" b="1" dirty="0">
                <a:solidFill>
                  <a:srgbClr val="1A1A1A"/>
                </a:solidFill>
              </a:rPr>
              <a:t>Cost Control</a:t>
            </a:r>
            <a:endParaRPr lang="en-US" sz="1600">
              <a:ea typeface="Calibri"/>
              <a:cs typeface="Calibri"/>
            </a:endParaRPr>
          </a:p>
        </p:txBody>
      </p:sp>
      <p:sp>
        <p:nvSpPr>
          <p:cNvPr id="13" name="Text 7"/>
          <p:cNvSpPr/>
          <p:nvPr/>
        </p:nvSpPr>
        <p:spPr>
          <a:xfrm>
            <a:off x="871538" y="3752673"/>
            <a:ext cx="4413452"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rPr>
              <a:t>Identify direct and indirect financial losses from downtime and provide</a:t>
            </a:r>
            <a:endParaRPr lang="en-US" sz="1200">
              <a:ea typeface="Calibri"/>
              <a:cs typeface="Calibri"/>
            </a:endParaRPr>
          </a:p>
        </p:txBody>
      </p:sp>
      <p:sp>
        <p:nvSpPr>
          <p:cNvPr id="14" name="Text 8"/>
          <p:cNvSpPr/>
          <p:nvPr/>
        </p:nvSpPr>
        <p:spPr>
          <a:xfrm>
            <a:off x="871538" y="3924123"/>
            <a:ext cx="2029017"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rPr>
              <a:t>recommendations for reduction.</a:t>
            </a:r>
            <a:endParaRPr lang="en-US" sz="1200">
              <a:ea typeface="Calibri"/>
              <a:cs typeface="Calibri"/>
            </a:endParaRPr>
          </a:p>
        </p:txBody>
      </p:sp>
      <p:pic>
        <p:nvPicPr>
          <p:cNvPr id="15" name="Image 4" descr="preencoded.png"/>
          <p:cNvPicPr>
            <a:picLocks noChangeAspect="1"/>
          </p:cNvPicPr>
          <p:nvPr/>
        </p:nvPicPr>
        <p:blipFill>
          <a:blip r:embed="rId7"/>
          <a:stretch>
            <a:fillRect/>
          </a:stretch>
        </p:blipFill>
        <p:spPr>
          <a:xfrm>
            <a:off x="5543550" y="285750"/>
            <a:ext cx="3314700" cy="4572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75478"/>
            <a:ext cx="4320518" cy="650178"/>
          </a:xfrm>
          <a:prstGeom prst="rect">
            <a:avLst/>
          </a:prstGeom>
          <a:noFill/>
          <a:ln/>
        </p:spPr>
        <p:txBody>
          <a:bodyPr wrap="square" lIns="0" tIns="0" rIns="0" bIns="85090" rtlCol="0" anchor="t">
            <a:spAutoFit/>
          </a:bodyPr>
          <a:lstStyle/>
          <a:p>
            <a:pPr marL="0" indent="0" algn="l">
              <a:lnSpc>
                <a:spcPts val="2200"/>
              </a:lnSpc>
              <a:buNone/>
            </a:pPr>
            <a:r>
              <a:rPr lang="en-US" sz="2000" b="1" dirty="0">
                <a:solidFill>
                  <a:srgbClr val="1A1A1A"/>
                </a:solidFill>
              </a:rPr>
              <a:t>Challenge and Initial Findings: Problem Scale</a:t>
            </a:r>
            <a:endParaRPr lang="en-US" sz="2000">
              <a:ea typeface="Calibri"/>
              <a:cs typeface="Calibri"/>
            </a:endParaRPr>
          </a:p>
        </p:txBody>
      </p:sp>
      <p:sp>
        <p:nvSpPr>
          <p:cNvPr id="4" name="Text 1"/>
          <p:cNvSpPr/>
          <p:nvPr/>
        </p:nvSpPr>
        <p:spPr>
          <a:xfrm>
            <a:off x="571500" y="1364488"/>
            <a:ext cx="4800600" cy="820738"/>
          </a:xfrm>
          <a:prstGeom prst="rect">
            <a:avLst/>
          </a:prstGeom>
          <a:noFill/>
          <a:ln/>
        </p:spPr>
        <p:txBody>
          <a:bodyPr wrap="square" lIns="0" tIns="0" rIns="0" bIns="0" rtlCol="0" anchor="t">
            <a:spAutoFit/>
          </a:bodyPr>
          <a:lstStyle/>
          <a:p>
            <a:pPr marL="0" indent="0" algn="l">
              <a:lnSpc>
                <a:spcPts val="1600"/>
              </a:lnSpc>
              <a:buNone/>
            </a:pPr>
            <a:r>
              <a:rPr lang="en-US" sz="1400" dirty="0">
                <a:solidFill>
                  <a:srgbClr val="333333"/>
                </a:solidFill>
              </a:rPr>
              <a:t>The manufacturing facility faced significant challenges with production losses and high maintenance costs resulting from unplanned downtime. This project aims to quantify these losses and provide an immediate analytical solution.</a:t>
            </a:r>
            <a:endParaRPr lang="en-US" sz="1400">
              <a:ea typeface="Calibri"/>
              <a:cs typeface="Calibri"/>
            </a:endParaRPr>
          </a:p>
        </p:txBody>
      </p:sp>
      <p:sp>
        <p:nvSpPr>
          <p:cNvPr id="5" name="Shape 2"/>
          <p:cNvSpPr/>
          <p:nvPr/>
        </p:nvSpPr>
        <p:spPr>
          <a:xfrm>
            <a:off x="571500" y="2296353"/>
            <a:ext cx="2293144" cy="819745"/>
          </a:xfrm>
          <a:prstGeom prst="rect">
            <a:avLst/>
          </a:prstGeom>
          <a:solidFill>
            <a:srgbClr val="FFFFFF"/>
          </a:solidFill>
          <a:ln/>
        </p:spPr>
      </p:sp>
      <p:sp>
        <p:nvSpPr>
          <p:cNvPr id="6" name="Shape 3"/>
          <p:cNvSpPr/>
          <p:nvPr/>
        </p:nvSpPr>
        <p:spPr>
          <a:xfrm>
            <a:off x="571500" y="2296353"/>
            <a:ext cx="35719" cy="819745"/>
          </a:xfrm>
          <a:prstGeom prst="rect">
            <a:avLst/>
          </a:prstGeom>
          <a:solidFill>
            <a:srgbClr val="FF4500"/>
          </a:solidFill>
          <a:ln/>
        </p:spPr>
      </p:sp>
      <p:sp>
        <p:nvSpPr>
          <p:cNvPr id="7" name="Text 4"/>
          <p:cNvSpPr/>
          <p:nvPr/>
        </p:nvSpPr>
        <p:spPr>
          <a:xfrm>
            <a:off x="714375" y="2439228"/>
            <a:ext cx="2007394" cy="342900"/>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4500"/>
                </a:solidFill>
              </a:rPr>
              <a:t>35.77K</a:t>
            </a:r>
            <a:endParaRPr lang="en-US" sz="2436" dirty="0"/>
          </a:p>
        </p:txBody>
      </p:sp>
      <p:sp>
        <p:nvSpPr>
          <p:cNvPr id="8" name="Text 5"/>
          <p:cNvSpPr/>
          <p:nvPr/>
        </p:nvSpPr>
        <p:spPr>
          <a:xfrm>
            <a:off x="714375" y="2817847"/>
            <a:ext cx="1724383" cy="146450"/>
          </a:xfrm>
          <a:prstGeom prst="rect">
            <a:avLst/>
          </a:prstGeom>
          <a:noFill/>
          <a:ln/>
        </p:spPr>
        <p:txBody>
          <a:bodyPr wrap="none" lIns="0" tIns="0" rIns="0" bIns="0" rtlCol="0" anchor="t">
            <a:spAutoFit/>
          </a:bodyPr>
          <a:lstStyle/>
          <a:p>
            <a:pPr marL="0" indent="0" algn="l">
              <a:lnSpc>
                <a:spcPts val="1100"/>
              </a:lnSpc>
              <a:buNone/>
            </a:pPr>
            <a:r>
              <a:rPr lang="en-US" sz="1200" b="1" dirty="0">
                <a:solidFill>
                  <a:srgbClr val="1A1A1A"/>
                </a:solidFill>
              </a:rPr>
              <a:t>Recorded Downtime Hours</a:t>
            </a:r>
            <a:endParaRPr lang="en-US" sz="1200">
              <a:ea typeface="Calibri"/>
              <a:cs typeface="Calibri"/>
            </a:endParaRPr>
          </a:p>
        </p:txBody>
      </p:sp>
      <p:sp>
        <p:nvSpPr>
          <p:cNvPr id="9" name="Shape 6"/>
          <p:cNvSpPr/>
          <p:nvPr/>
        </p:nvSpPr>
        <p:spPr>
          <a:xfrm>
            <a:off x="3078956" y="2296353"/>
            <a:ext cx="2293144" cy="819745"/>
          </a:xfrm>
          <a:prstGeom prst="rect">
            <a:avLst/>
          </a:prstGeom>
          <a:solidFill>
            <a:srgbClr val="FFFFFF"/>
          </a:solidFill>
          <a:ln/>
        </p:spPr>
      </p:sp>
      <p:sp>
        <p:nvSpPr>
          <p:cNvPr id="10" name="Shape 7"/>
          <p:cNvSpPr/>
          <p:nvPr/>
        </p:nvSpPr>
        <p:spPr>
          <a:xfrm>
            <a:off x="3078956" y="2296353"/>
            <a:ext cx="35719" cy="819745"/>
          </a:xfrm>
          <a:prstGeom prst="rect">
            <a:avLst/>
          </a:prstGeom>
          <a:solidFill>
            <a:srgbClr val="FF4500"/>
          </a:solidFill>
          <a:ln/>
        </p:spPr>
      </p:sp>
      <p:sp>
        <p:nvSpPr>
          <p:cNvPr id="11" name="Text 8"/>
          <p:cNvSpPr/>
          <p:nvPr/>
        </p:nvSpPr>
        <p:spPr>
          <a:xfrm>
            <a:off x="3221831" y="2439228"/>
            <a:ext cx="2007394" cy="342900"/>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4500"/>
                </a:solidFill>
              </a:rPr>
              <a:t>145.27K</a:t>
            </a:r>
            <a:endParaRPr lang="en-US" sz="2436" dirty="0"/>
          </a:p>
        </p:txBody>
      </p:sp>
      <p:sp>
        <p:nvSpPr>
          <p:cNvPr id="12" name="Text 9"/>
          <p:cNvSpPr/>
          <p:nvPr/>
        </p:nvSpPr>
        <p:spPr>
          <a:xfrm>
            <a:off x="3221831" y="2817847"/>
            <a:ext cx="1747145" cy="146450"/>
          </a:xfrm>
          <a:prstGeom prst="rect">
            <a:avLst/>
          </a:prstGeom>
          <a:noFill/>
          <a:ln/>
        </p:spPr>
        <p:txBody>
          <a:bodyPr wrap="none" lIns="0" tIns="0" rIns="0" bIns="0" rtlCol="0" anchor="t">
            <a:spAutoFit/>
          </a:bodyPr>
          <a:lstStyle/>
          <a:p>
            <a:pPr marL="0" indent="0" algn="l">
              <a:lnSpc>
                <a:spcPts val="1100"/>
              </a:lnSpc>
              <a:buNone/>
            </a:pPr>
            <a:r>
              <a:rPr lang="en-US" sz="1200" b="1" dirty="0">
                <a:solidFill>
                  <a:srgbClr val="1A1A1A"/>
                </a:solidFill>
              </a:rPr>
              <a:t>Production Loss (units/ton)</a:t>
            </a:r>
            <a:endParaRPr lang="en-US" sz="1200">
              <a:ea typeface="Calibri"/>
              <a:cs typeface="Calibri"/>
            </a:endParaRPr>
          </a:p>
        </p:txBody>
      </p:sp>
      <p:pic>
        <p:nvPicPr>
          <p:cNvPr id="13" name="Image 1" descr="preencoded.png"/>
          <p:cNvPicPr>
            <a:picLocks noChangeAspect="1"/>
          </p:cNvPicPr>
          <p:nvPr/>
        </p:nvPicPr>
        <p:blipFill>
          <a:blip r:embed="rId4"/>
          <a:stretch>
            <a:fillRect/>
          </a:stretch>
        </p:blipFill>
        <p:spPr>
          <a:xfrm>
            <a:off x="571500" y="3478643"/>
            <a:ext cx="114300" cy="114300"/>
          </a:xfrm>
          <a:prstGeom prst="rect">
            <a:avLst/>
          </a:prstGeom>
        </p:spPr>
      </p:pic>
      <p:sp>
        <p:nvSpPr>
          <p:cNvPr id="14" name="Text 10"/>
          <p:cNvSpPr/>
          <p:nvPr/>
        </p:nvSpPr>
        <p:spPr>
          <a:xfrm>
            <a:off x="725173" y="3457212"/>
            <a:ext cx="1957074" cy="188770"/>
          </a:xfrm>
          <a:prstGeom prst="rect">
            <a:avLst/>
          </a:prstGeom>
          <a:noFill/>
          <a:ln/>
        </p:spPr>
        <p:txBody>
          <a:bodyPr wrap="none" lIns="0" tIns="0" rIns="0" bIns="0" rtlCol="0" anchor="t">
            <a:spAutoFit/>
          </a:bodyPr>
          <a:lstStyle/>
          <a:p>
            <a:pPr marL="0" indent="0" algn="l">
              <a:lnSpc>
                <a:spcPts val="1400"/>
              </a:lnSpc>
              <a:buNone/>
            </a:pPr>
            <a:r>
              <a:rPr lang="en-US" sz="1600" b="1" dirty="0">
                <a:solidFill>
                  <a:srgbClr val="1A1A1A"/>
                </a:solidFill>
              </a:rPr>
              <a:t>Recurring Root Causes:</a:t>
            </a:r>
            <a:endParaRPr lang="en-US" sz="1600">
              <a:ea typeface="Calibri"/>
              <a:cs typeface="Calibri"/>
            </a:endParaRPr>
          </a:p>
        </p:txBody>
      </p:sp>
      <p:sp>
        <p:nvSpPr>
          <p:cNvPr id="15" name="Text 11"/>
          <p:cNvSpPr/>
          <p:nvPr/>
        </p:nvSpPr>
        <p:spPr>
          <a:xfrm>
            <a:off x="569697" y="3696624"/>
            <a:ext cx="3489673"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rPr>
              <a:t>Wear and Corrosion, indicating an urgent need for more</a:t>
            </a:r>
            <a:endParaRPr lang="en-US" sz="1200">
              <a:ea typeface="Calibri"/>
              <a:cs typeface="Calibri"/>
            </a:endParaRPr>
          </a:p>
        </p:txBody>
      </p:sp>
      <p:sp>
        <p:nvSpPr>
          <p:cNvPr id="16" name="Text 12"/>
          <p:cNvSpPr/>
          <p:nvPr/>
        </p:nvSpPr>
        <p:spPr>
          <a:xfrm>
            <a:off x="571500" y="3848595"/>
            <a:ext cx="2749151"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rPr>
              <a:t>effective preventive maintenance programs.</a:t>
            </a:r>
            <a:endParaRPr lang="en-US" sz="1200">
              <a:ea typeface="Calibri"/>
              <a:cs typeface="Calibri"/>
            </a:endParaRPr>
          </a:p>
        </p:txBody>
      </p:sp>
      <p:sp>
        <p:nvSpPr>
          <p:cNvPr id="17" name="Shape 13"/>
          <p:cNvSpPr/>
          <p:nvPr/>
        </p:nvSpPr>
        <p:spPr>
          <a:xfrm>
            <a:off x="5372100" y="0"/>
            <a:ext cx="3771900" cy="5143500"/>
          </a:xfrm>
          <a:prstGeom prst="rect">
            <a:avLst/>
          </a:prstGeom>
          <a:solidFill>
            <a:srgbClr val="333333"/>
          </a:solidFill>
          <a:ln/>
        </p:spPr>
      </p:sp>
      <p:pic>
        <p:nvPicPr>
          <p:cNvPr id="18" name="Image 2" descr="preencoded.png"/>
          <p:cNvPicPr>
            <a:picLocks noChangeAspect="1"/>
          </p:cNvPicPr>
          <p:nvPr/>
        </p:nvPicPr>
        <p:blipFill>
          <a:blip r:embed="rId5"/>
          <a:stretch>
            <a:fillRect/>
          </a:stretch>
        </p:blipFill>
        <p:spPr>
          <a:xfrm>
            <a:off x="5643563" y="1490672"/>
            <a:ext cx="3228975" cy="21621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475478"/>
            <a:ext cx="8001000" cy="405408"/>
          </a:xfrm>
          <a:prstGeom prst="rect">
            <a:avLst/>
          </a:prstGeom>
          <a:solidFill>
            <a:srgbClr val="000000">
              <a:alpha val="0"/>
            </a:srgbClr>
          </a:solidFill>
          <a:ln/>
        </p:spPr>
      </p:sp>
      <p:sp>
        <p:nvSpPr>
          <p:cNvPr id="4" name="Shape 1"/>
          <p:cNvSpPr/>
          <p:nvPr/>
        </p:nvSpPr>
        <p:spPr>
          <a:xfrm>
            <a:off x="571500" y="859455"/>
            <a:ext cx="8001000" cy="21431"/>
          </a:xfrm>
          <a:prstGeom prst="rect">
            <a:avLst/>
          </a:prstGeom>
          <a:solidFill>
            <a:srgbClr val="FF4500"/>
          </a:solidFill>
          <a:ln/>
        </p:spPr>
      </p:sp>
      <p:sp>
        <p:nvSpPr>
          <p:cNvPr id="5" name="Text 2"/>
          <p:cNvSpPr/>
          <p:nvPr/>
        </p:nvSpPr>
        <p:spPr>
          <a:xfrm>
            <a:off x="571500" y="475478"/>
            <a:ext cx="5167312" cy="368049"/>
          </a:xfrm>
          <a:prstGeom prst="rect">
            <a:avLst/>
          </a:prstGeom>
          <a:noFill/>
          <a:ln/>
        </p:spPr>
        <p:txBody>
          <a:bodyPr wrap="none" lIns="0" tIns="0" rIns="0" bIns="85090" rtlCol="0" anchor="t">
            <a:spAutoFit/>
          </a:bodyPr>
          <a:lstStyle/>
          <a:p>
            <a:pPr marL="0" indent="0" algn="l">
              <a:lnSpc>
                <a:spcPts val="2200"/>
              </a:lnSpc>
              <a:buNone/>
            </a:pPr>
            <a:r>
              <a:rPr lang="en-US" sz="2000" b="1" dirty="0">
                <a:solidFill>
                  <a:srgbClr val="1A1A1A"/>
                </a:solidFill>
              </a:rPr>
              <a:t>Team and Roles: Integrated Expertise for Success</a:t>
            </a:r>
            <a:endParaRPr lang="en-US" sz="2000">
              <a:ea typeface="Calibri"/>
              <a:cs typeface="Calibri"/>
            </a:endParaRPr>
          </a:p>
        </p:txBody>
      </p:sp>
      <p:sp>
        <p:nvSpPr>
          <p:cNvPr id="6" name="Shape 3"/>
          <p:cNvSpPr/>
          <p:nvPr/>
        </p:nvSpPr>
        <p:spPr>
          <a:xfrm>
            <a:off x="571500" y="1073767"/>
            <a:ext cx="3893344" cy="1360884"/>
          </a:xfrm>
          <a:prstGeom prst="rect">
            <a:avLst/>
          </a:prstGeom>
          <a:solidFill>
            <a:srgbClr val="FFFFFF"/>
          </a:solidFill>
          <a:ln/>
        </p:spPr>
      </p:sp>
      <p:sp>
        <p:nvSpPr>
          <p:cNvPr id="7" name="Shape 4"/>
          <p:cNvSpPr/>
          <p:nvPr/>
        </p:nvSpPr>
        <p:spPr>
          <a:xfrm>
            <a:off x="571500" y="1073767"/>
            <a:ext cx="35719" cy="1360884"/>
          </a:xfrm>
          <a:prstGeom prst="rect">
            <a:avLst/>
          </a:prstGeom>
          <a:solidFill>
            <a:srgbClr val="FF4500"/>
          </a:solidFill>
          <a:ln/>
        </p:spPr>
      </p:sp>
      <p:sp>
        <p:nvSpPr>
          <p:cNvPr id="8" name="Text 5"/>
          <p:cNvSpPr/>
          <p:nvPr/>
        </p:nvSpPr>
        <p:spPr>
          <a:xfrm>
            <a:off x="750094" y="1252361"/>
            <a:ext cx="1704184"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1A1A1A"/>
                </a:solidFill>
              </a:rPr>
              <a:t>Mostafa Mohsen Fathy</a:t>
            </a:r>
            <a:endParaRPr lang="en-US" sz="1400">
              <a:ea typeface="Calibri"/>
              <a:cs typeface="Calibri"/>
            </a:endParaRPr>
          </a:p>
        </p:txBody>
      </p:sp>
      <p:sp>
        <p:nvSpPr>
          <p:cNvPr id="9" name="Text 6"/>
          <p:cNvSpPr/>
          <p:nvPr/>
        </p:nvSpPr>
        <p:spPr>
          <a:xfrm>
            <a:off x="750094" y="1552398"/>
            <a:ext cx="3536156" cy="241989"/>
          </a:xfrm>
          <a:prstGeom prst="rect">
            <a:avLst/>
          </a:prstGeom>
          <a:noFill/>
          <a:ln/>
        </p:spPr>
        <p:txBody>
          <a:bodyPr wrap="square" lIns="0" tIns="0" rIns="0" bIns="85090" rtlCol="0" anchor="t">
            <a:spAutoFit/>
          </a:bodyPr>
          <a:lstStyle/>
          <a:p>
            <a:pPr marL="0" indent="0" algn="l">
              <a:lnSpc>
                <a:spcPts val="1200"/>
              </a:lnSpc>
              <a:buNone/>
            </a:pPr>
            <a:r>
              <a:rPr lang="en-US" sz="1200" b="1" dirty="0">
                <a:solidFill>
                  <a:srgbClr val="FF4500"/>
                </a:solidFill>
              </a:rPr>
              <a:t>Data Pre-processing</a:t>
            </a:r>
            <a:endParaRPr lang="en-US" sz="1200">
              <a:ea typeface="Calibri"/>
              <a:cs typeface="Calibri"/>
            </a:endParaRPr>
          </a:p>
        </p:txBody>
      </p:sp>
      <p:sp>
        <p:nvSpPr>
          <p:cNvPr id="10" name="Text 7"/>
          <p:cNvSpPr/>
          <p:nvPr/>
        </p:nvSpPr>
        <p:spPr>
          <a:xfrm>
            <a:off x="750094" y="1913158"/>
            <a:ext cx="3536156" cy="359073"/>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Cleaning, exploration, and pre-processing of raw data to ensure quality for analysis and reporting.</a:t>
            </a:r>
            <a:endParaRPr lang="en-US" sz="1200">
              <a:ea typeface="Calibri"/>
              <a:cs typeface="Calibri"/>
            </a:endParaRPr>
          </a:p>
        </p:txBody>
      </p:sp>
      <p:sp>
        <p:nvSpPr>
          <p:cNvPr id="11" name="Shape 8"/>
          <p:cNvSpPr/>
          <p:nvPr/>
        </p:nvSpPr>
        <p:spPr>
          <a:xfrm>
            <a:off x="4679156" y="1073767"/>
            <a:ext cx="3893344" cy="1360884"/>
          </a:xfrm>
          <a:prstGeom prst="rect">
            <a:avLst/>
          </a:prstGeom>
          <a:solidFill>
            <a:srgbClr val="FFFFFF"/>
          </a:solidFill>
          <a:ln/>
        </p:spPr>
      </p:sp>
      <p:sp>
        <p:nvSpPr>
          <p:cNvPr id="12" name="Shape 9"/>
          <p:cNvSpPr/>
          <p:nvPr/>
        </p:nvSpPr>
        <p:spPr>
          <a:xfrm>
            <a:off x="4679156" y="1073767"/>
            <a:ext cx="35719" cy="1360884"/>
          </a:xfrm>
          <a:prstGeom prst="rect">
            <a:avLst/>
          </a:prstGeom>
          <a:solidFill>
            <a:srgbClr val="FF4500"/>
          </a:solidFill>
          <a:ln/>
        </p:spPr>
      </p:sp>
      <p:sp>
        <p:nvSpPr>
          <p:cNvPr id="13" name="Text 10"/>
          <p:cNvSpPr/>
          <p:nvPr/>
        </p:nvSpPr>
        <p:spPr>
          <a:xfrm>
            <a:off x="4857750" y="1252361"/>
            <a:ext cx="3536156" cy="214313"/>
          </a:xfrm>
          <a:prstGeom prst="rect">
            <a:avLst/>
          </a:prstGeom>
          <a:noFill/>
          <a:ln/>
        </p:spPr>
        <p:txBody>
          <a:bodyPr wrap="none" lIns="0" tIns="0" rIns="0" bIns="0" rtlCol="0" anchor="t">
            <a:spAutoFit/>
          </a:bodyPr>
          <a:lstStyle/>
          <a:p>
            <a:pPr>
              <a:lnSpc>
                <a:spcPts val="1500"/>
              </a:lnSpc>
            </a:pPr>
            <a:r>
              <a:rPr lang="en-US" sz="1400" b="1" dirty="0">
                <a:solidFill>
                  <a:srgbClr val="1A1A1A"/>
                </a:solidFill>
              </a:rPr>
              <a:t>Mohamed Elsaid Elsaid Mahmoud</a:t>
            </a:r>
          </a:p>
        </p:txBody>
      </p:sp>
      <p:sp>
        <p:nvSpPr>
          <p:cNvPr id="14" name="Text 11"/>
          <p:cNvSpPr/>
          <p:nvPr/>
        </p:nvSpPr>
        <p:spPr>
          <a:xfrm>
            <a:off x="4857750" y="1552398"/>
            <a:ext cx="3536156" cy="253603"/>
          </a:xfrm>
          <a:prstGeom prst="rect">
            <a:avLst/>
          </a:prstGeom>
          <a:noFill/>
          <a:ln/>
        </p:spPr>
        <p:txBody>
          <a:bodyPr wrap="square" lIns="0" tIns="0" rIns="0" bIns="85090" rtlCol="0" anchor="t">
            <a:spAutoFit/>
          </a:bodyPr>
          <a:lstStyle/>
          <a:p>
            <a:pPr>
              <a:lnSpc>
                <a:spcPts val="1200"/>
              </a:lnSpc>
            </a:pPr>
            <a:r>
              <a:rPr lang="en-US" sz="1200" b="1" dirty="0">
                <a:solidFill>
                  <a:srgbClr val="FF4500"/>
                </a:solidFill>
              </a:rPr>
              <a:t>Data Modeling</a:t>
            </a:r>
          </a:p>
        </p:txBody>
      </p:sp>
      <p:sp>
        <p:nvSpPr>
          <p:cNvPr id="15" name="Text 12"/>
          <p:cNvSpPr/>
          <p:nvPr/>
        </p:nvSpPr>
        <p:spPr>
          <a:xfrm>
            <a:off x="4857750" y="1828205"/>
            <a:ext cx="3536156" cy="538609"/>
          </a:xfrm>
          <a:prstGeom prst="rect">
            <a:avLst/>
          </a:prstGeom>
          <a:noFill/>
          <a:ln/>
        </p:spPr>
        <p:txBody>
          <a:bodyPr wrap="square" lIns="0" tIns="0" rIns="0" bIns="0" rtlCol="0" anchor="t">
            <a:spAutoFit/>
          </a:bodyPr>
          <a:lstStyle/>
          <a:p>
            <a:pPr>
              <a:lnSpc>
                <a:spcPts val="1400"/>
              </a:lnSpc>
            </a:pPr>
            <a:r>
              <a:rPr lang="en-US" sz="1200" dirty="0">
                <a:solidFill>
                  <a:srgbClr val="333333"/>
                </a:solidFill>
              </a:rPr>
              <a:t>Creating data models and relationships between tables in Power BI to provide a strong and reliable foundation for analysis.</a:t>
            </a:r>
          </a:p>
        </p:txBody>
      </p:sp>
      <p:sp>
        <p:nvSpPr>
          <p:cNvPr id="16" name="Shape 13"/>
          <p:cNvSpPr/>
          <p:nvPr/>
        </p:nvSpPr>
        <p:spPr>
          <a:xfrm>
            <a:off x="571500" y="2648964"/>
            <a:ext cx="3893344" cy="1360884"/>
          </a:xfrm>
          <a:prstGeom prst="rect">
            <a:avLst/>
          </a:prstGeom>
          <a:solidFill>
            <a:srgbClr val="FFFFFF"/>
          </a:solidFill>
          <a:ln/>
        </p:spPr>
      </p:sp>
      <p:sp>
        <p:nvSpPr>
          <p:cNvPr id="17" name="Shape 14"/>
          <p:cNvSpPr/>
          <p:nvPr/>
        </p:nvSpPr>
        <p:spPr>
          <a:xfrm>
            <a:off x="571500" y="2648964"/>
            <a:ext cx="35719" cy="1360884"/>
          </a:xfrm>
          <a:prstGeom prst="rect">
            <a:avLst/>
          </a:prstGeom>
          <a:solidFill>
            <a:srgbClr val="FF4500"/>
          </a:solidFill>
          <a:ln/>
        </p:spPr>
      </p:sp>
      <p:sp>
        <p:nvSpPr>
          <p:cNvPr id="18" name="Text 15"/>
          <p:cNvSpPr/>
          <p:nvPr/>
        </p:nvSpPr>
        <p:spPr>
          <a:xfrm>
            <a:off x="750094" y="2827558"/>
            <a:ext cx="1293624" cy="192360"/>
          </a:xfrm>
          <a:prstGeom prst="rect">
            <a:avLst/>
          </a:prstGeom>
          <a:noFill/>
          <a:ln/>
        </p:spPr>
        <p:txBody>
          <a:bodyPr wrap="none" lIns="0" tIns="0" rIns="0" bIns="0" rtlCol="0" anchor="t">
            <a:spAutoFit/>
          </a:bodyPr>
          <a:lstStyle/>
          <a:p>
            <a:pPr>
              <a:lnSpc>
                <a:spcPts val="1500"/>
              </a:lnSpc>
            </a:pPr>
            <a:r>
              <a:rPr lang="en-US" sz="1400" b="1" dirty="0">
                <a:solidFill>
                  <a:srgbClr val="1A1A1A"/>
                </a:solidFill>
              </a:rPr>
              <a:t>Yousif Naser Elsayed</a:t>
            </a:r>
          </a:p>
        </p:txBody>
      </p:sp>
      <p:sp>
        <p:nvSpPr>
          <p:cNvPr id="19" name="Text 16"/>
          <p:cNvSpPr/>
          <p:nvPr/>
        </p:nvSpPr>
        <p:spPr>
          <a:xfrm>
            <a:off x="750094" y="3127595"/>
            <a:ext cx="3536156" cy="253603"/>
          </a:xfrm>
          <a:prstGeom prst="rect">
            <a:avLst/>
          </a:prstGeom>
          <a:noFill/>
          <a:ln/>
        </p:spPr>
        <p:txBody>
          <a:bodyPr wrap="square" lIns="0" tIns="0" rIns="0" bIns="85090" rtlCol="0" anchor="t">
            <a:spAutoFit/>
          </a:bodyPr>
          <a:lstStyle/>
          <a:p>
            <a:pPr indent="0">
              <a:lnSpc>
                <a:spcPts val="1200"/>
              </a:lnSpc>
              <a:buNone/>
            </a:pPr>
            <a:r>
              <a:rPr lang="en-US" sz="1200" b="1" dirty="0">
                <a:solidFill>
                  <a:srgbClr val="FF4500"/>
                </a:solidFill>
              </a:rPr>
              <a:t>Dashboard Development</a:t>
            </a:r>
          </a:p>
        </p:txBody>
      </p:sp>
      <p:sp>
        <p:nvSpPr>
          <p:cNvPr id="20" name="Text 17"/>
          <p:cNvSpPr/>
          <p:nvPr/>
        </p:nvSpPr>
        <p:spPr>
          <a:xfrm>
            <a:off x="750094" y="3380233"/>
            <a:ext cx="3536156" cy="538609"/>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Designing and developing interactive Power BI dashboards to present insights clearly and effectively to users.</a:t>
            </a:r>
          </a:p>
        </p:txBody>
      </p:sp>
      <p:sp>
        <p:nvSpPr>
          <p:cNvPr id="21" name="Shape 18"/>
          <p:cNvSpPr/>
          <p:nvPr/>
        </p:nvSpPr>
        <p:spPr>
          <a:xfrm>
            <a:off x="4679156" y="2648964"/>
            <a:ext cx="3893344" cy="1360884"/>
          </a:xfrm>
          <a:prstGeom prst="rect">
            <a:avLst/>
          </a:prstGeom>
          <a:solidFill>
            <a:srgbClr val="FFFFFF"/>
          </a:solidFill>
          <a:ln/>
        </p:spPr>
      </p:sp>
      <p:sp>
        <p:nvSpPr>
          <p:cNvPr id="22" name="Shape 19"/>
          <p:cNvSpPr/>
          <p:nvPr/>
        </p:nvSpPr>
        <p:spPr>
          <a:xfrm>
            <a:off x="4679156" y="2648964"/>
            <a:ext cx="35719" cy="1360884"/>
          </a:xfrm>
          <a:prstGeom prst="rect">
            <a:avLst/>
          </a:prstGeom>
          <a:solidFill>
            <a:srgbClr val="FF4500"/>
          </a:solidFill>
          <a:ln/>
        </p:spPr>
      </p:sp>
      <p:sp>
        <p:nvSpPr>
          <p:cNvPr id="23" name="Text 20"/>
          <p:cNvSpPr/>
          <p:nvPr/>
        </p:nvSpPr>
        <p:spPr>
          <a:xfrm>
            <a:off x="4857750" y="2827558"/>
            <a:ext cx="3536156" cy="214313"/>
          </a:xfrm>
          <a:prstGeom prst="rect">
            <a:avLst/>
          </a:prstGeom>
          <a:noFill/>
          <a:ln/>
        </p:spPr>
        <p:txBody>
          <a:bodyPr wrap="none" lIns="0" tIns="0" rIns="0" bIns="0" rtlCol="0" anchor="t">
            <a:spAutoFit/>
          </a:bodyPr>
          <a:lstStyle/>
          <a:p>
            <a:pPr indent="0">
              <a:lnSpc>
                <a:spcPts val="1500"/>
              </a:lnSpc>
              <a:buNone/>
            </a:pPr>
            <a:r>
              <a:rPr lang="en-US" sz="1400" b="1" dirty="0">
                <a:solidFill>
                  <a:srgbClr val="1A1A1A"/>
                </a:solidFill>
              </a:rPr>
              <a:t>Osama Elsayed Shawki</a:t>
            </a:r>
          </a:p>
        </p:txBody>
      </p:sp>
      <p:sp>
        <p:nvSpPr>
          <p:cNvPr id="24" name="Text 21"/>
          <p:cNvSpPr/>
          <p:nvPr/>
        </p:nvSpPr>
        <p:spPr>
          <a:xfrm>
            <a:off x="4857750" y="3127595"/>
            <a:ext cx="3536156" cy="253603"/>
          </a:xfrm>
          <a:prstGeom prst="rect">
            <a:avLst/>
          </a:prstGeom>
          <a:noFill/>
          <a:ln/>
        </p:spPr>
        <p:txBody>
          <a:bodyPr wrap="square" lIns="0" tIns="0" rIns="0" bIns="85090" rtlCol="0" anchor="t">
            <a:spAutoFit/>
          </a:bodyPr>
          <a:lstStyle/>
          <a:p>
            <a:pPr>
              <a:lnSpc>
                <a:spcPts val="1200"/>
              </a:lnSpc>
            </a:pPr>
            <a:r>
              <a:rPr lang="en-US" sz="1200" b="1" dirty="0">
                <a:solidFill>
                  <a:srgbClr val="FF4500"/>
                </a:solidFill>
              </a:rPr>
              <a:t>Analysis and Presentation</a:t>
            </a:r>
          </a:p>
        </p:txBody>
      </p:sp>
      <p:sp>
        <p:nvSpPr>
          <p:cNvPr id="25" name="Text 22"/>
          <p:cNvSpPr/>
          <p:nvPr/>
        </p:nvSpPr>
        <p:spPr>
          <a:xfrm>
            <a:off x="4857750" y="3380233"/>
            <a:ext cx="3536156" cy="538609"/>
          </a:xfrm>
          <a:prstGeom prst="rect">
            <a:avLst/>
          </a:prstGeom>
          <a:noFill/>
          <a:ln/>
        </p:spPr>
        <p:txBody>
          <a:bodyPr wrap="square" lIns="0" tIns="0" rIns="0" bIns="0" rtlCol="0" anchor="t">
            <a:spAutoFit/>
          </a:bodyPr>
          <a:lstStyle/>
          <a:p>
            <a:pPr>
              <a:lnSpc>
                <a:spcPts val="1400"/>
              </a:lnSpc>
            </a:pPr>
            <a:r>
              <a:rPr lang="en-US" sz="1200" dirty="0">
                <a:solidFill>
                  <a:srgbClr val="333333"/>
                </a:solidFill>
              </a:rPr>
              <a:t>Analyzing achieved results, preparing the final presentation, and strategic recommendations to support management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3371850" cy="51435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285750" y="1784152"/>
            <a:ext cx="2800350" cy="1575197"/>
          </a:xfrm>
          <a:prstGeom prst="rect">
            <a:avLst/>
          </a:prstGeom>
        </p:spPr>
      </p:pic>
      <p:sp>
        <p:nvSpPr>
          <p:cNvPr id="5" name="Text 1"/>
          <p:cNvSpPr/>
          <p:nvPr/>
        </p:nvSpPr>
        <p:spPr>
          <a:xfrm>
            <a:off x="3603539" y="475478"/>
            <a:ext cx="5365123" cy="368049"/>
          </a:xfrm>
          <a:prstGeom prst="rect">
            <a:avLst/>
          </a:prstGeom>
          <a:noFill/>
          <a:ln/>
        </p:spPr>
        <p:txBody>
          <a:bodyPr wrap="none" lIns="0" tIns="0" rIns="0" bIns="85090" rtlCol="0" anchor="t">
            <a:spAutoFit/>
          </a:bodyPr>
          <a:lstStyle/>
          <a:p>
            <a:pPr>
              <a:lnSpc>
                <a:spcPts val="2200"/>
              </a:lnSpc>
            </a:pPr>
            <a:r>
              <a:rPr lang="en-US" sz="2000" b="1" dirty="0">
                <a:solidFill>
                  <a:srgbClr val="1A1A1A"/>
                </a:solidFill>
              </a:rPr>
              <a:t>Project Explanation: Operational Analysis Features</a:t>
            </a:r>
          </a:p>
        </p:txBody>
      </p:sp>
      <p:pic>
        <p:nvPicPr>
          <p:cNvPr id="6" name="Image 2" descr="preencoded.png"/>
          <p:cNvPicPr>
            <a:picLocks noChangeAspect="1"/>
          </p:cNvPicPr>
          <p:nvPr/>
        </p:nvPicPr>
        <p:blipFill>
          <a:blip r:embed="rId5"/>
          <a:stretch>
            <a:fillRect/>
          </a:stretch>
        </p:blipFill>
        <p:spPr>
          <a:xfrm>
            <a:off x="3943350" y="1372019"/>
            <a:ext cx="228600" cy="264319"/>
          </a:xfrm>
          <a:prstGeom prst="rect">
            <a:avLst/>
          </a:prstGeom>
        </p:spPr>
      </p:pic>
      <p:sp>
        <p:nvSpPr>
          <p:cNvPr id="7" name="Text 2"/>
          <p:cNvSpPr/>
          <p:nvPr/>
        </p:nvSpPr>
        <p:spPr>
          <a:xfrm>
            <a:off x="4314825" y="1372019"/>
            <a:ext cx="4829175" cy="175022"/>
          </a:xfrm>
          <a:prstGeom prst="rect">
            <a:avLst/>
          </a:prstGeom>
          <a:noFill/>
          <a:ln/>
        </p:spPr>
        <p:txBody>
          <a:bodyPr wrap="none" lIns="0" tIns="0" rIns="0" bIns="0" rtlCol="0" anchor="t">
            <a:spAutoFit/>
          </a:bodyPr>
          <a:lstStyle/>
          <a:p>
            <a:pPr>
              <a:lnSpc>
                <a:spcPts val="1700"/>
              </a:lnSpc>
            </a:pPr>
            <a:r>
              <a:rPr lang="en-US" sz="1600" b="1" dirty="0">
                <a:solidFill>
                  <a:srgbClr val="1A1A1A"/>
                </a:solidFill>
              </a:rPr>
              <a:t>Comprehensive Downtime Analysis</a:t>
            </a:r>
          </a:p>
        </p:txBody>
      </p:sp>
      <p:sp>
        <p:nvSpPr>
          <p:cNvPr id="8" name="Text 3"/>
          <p:cNvSpPr/>
          <p:nvPr/>
        </p:nvSpPr>
        <p:spPr>
          <a:xfrm>
            <a:off x="4322547" y="1588745"/>
            <a:ext cx="4745591" cy="359073"/>
          </a:xfrm>
          <a:prstGeom prst="rect">
            <a:avLst/>
          </a:prstGeom>
          <a:noFill/>
          <a:ln/>
        </p:spPr>
        <p:txBody>
          <a:bodyPr wrap="square" lIns="0" tIns="0" rIns="0" bIns="0" rtlCol="0" anchor="t">
            <a:spAutoFit/>
          </a:bodyPr>
          <a:lstStyle/>
          <a:p>
            <a:pPr>
              <a:lnSpc>
                <a:spcPts val="1400"/>
              </a:lnSpc>
            </a:pPr>
            <a:r>
              <a:rPr lang="en-US" sz="1200" dirty="0">
                <a:solidFill>
                  <a:srgbClr val="333333"/>
                </a:solidFill>
              </a:rPr>
              <a:t>Tracking total downtime hours and classifying failures to identify the most impactful causes on production through detailed failure classification.</a:t>
            </a:r>
          </a:p>
        </p:txBody>
      </p:sp>
      <p:sp>
        <p:nvSpPr>
          <p:cNvPr id="9" name="Text 4"/>
          <p:cNvSpPr/>
          <p:nvPr/>
        </p:nvSpPr>
        <p:spPr>
          <a:xfrm>
            <a:off x="4322548" y="1967363"/>
            <a:ext cx="2600071" cy="122662"/>
          </a:xfrm>
          <a:prstGeom prst="rect">
            <a:avLst/>
          </a:prstGeom>
          <a:noFill/>
          <a:ln/>
        </p:spPr>
        <p:txBody>
          <a:bodyPr wrap="none" lIns="0" tIns="0" rIns="0" bIns="0" rtlCol="0" anchor="t">
            <a:spAutoFit/>
          </a:bodyPr>
          <a:lstStyle/>
          <a:p>
            <a:pPr marL="0" indent="0" algn="l">
              <a:lnSpc>
                <a:spcPts val="900"/>
              </a:lnSpc>
              <a:buNone/>
            </a:pPr>
            <a:r>
              <a:rPr lang="en-US" sz="1100" b="1" dirty="0">
                <a:solidFill>
                  <a:srgbClr val="FF4500"/>
                </a:solidFill>
              </a:rPr>
              <a:t>✓ Trend Analysis | Root Cause Identification</a:t>
            </a:r>
            <a:endParaRPr lang="en-US" sz="1100">
              <a:ea typeface="Calibri"/>
              <a:cs typeface="Calibri"/>
            </a:endParaRPr>
          </a:p>
        </p:txBody>
      </p:sp>
      <p:pic>
        <p:nvPicPr>
          <p:cNvPr id="10" name="Image 3" descr="preencoded.png"/>
          <p:cNvPicPr>
            <a:picLocks noChangeAspect="1"/>
          </p:cNvPicPr>
          <p:nvPr/>
        </p:nvPicPr>
        <p:blipFill>
          <a:blip r:embed="rId6"/>
          <a:stretch>
            <a:fillRect/>
          </a:stretch>
        </p:blipFill>
        <p:spPr>
          <a:xfrm>
            <a:off x="3943350" y="2306064"/>
            <a:ext cx="228600" cy="264319"/>
          </a:xfrm>
          <a:prstGeom prst="rect">
            <a:avLst/>
          </a:prstGeom>
        </p:spPr>
      </p:pic>
      <p:sp>
        <p:nvSpPr>
          <p:cNvPr id="11" name="Text 5"/>
          <p:cNvSpPr/>
          <p:nvPr/>
        </p:nvSpPr>
        <p:spPr>
          <a:xfrm>
            <a:off x="4314825" y="2306064"/>
            <a:ext cx="4829175" cy="175022"/>
          </a:xfrm>
          <a:prstGeom prst="rect">
            <a:avLst/>
          </a:prstGeom>
          <a:noFill/>
          <a:ln/>
        </p:spPr>
        <p:txBody>
          <a:bodyPr wrap="none" lIns="0" tIns="0" rIns="0" bIns="0" rtlCol="0" anchor="t">
            <a:spAutoFit/>
          </a:bodyPr>
          <a:lstStyle/>
          <a:p>
            <a:pPr indent="0">
              <a:lnSpc>
                <a:spcPts val="1700"/>
              </a:lnSpc>
              <a:buNone/>
            </a:pPr>
            <a:r>
              <a:rPr lang="en-US" sz="1600" b="1" dirty="0">
                <a:solidFill>
                  <a:srgbClr val="1A1A1A"/>
                </a:solidFill>
              </a:rPr>
              <a:t>Maintenance Team Efficiency (MTTR)</a:t>
            </a:r>
          </a:p>
        </p:txBody>
      </p:sp>
      <p:sp>
        <p:nvSpPr>
          <p:cNvPr id="12" name="Text 6"/>
          <p:cNvSpPr/>
          <p:nvPr/>
        </p:nvSpPr>
        <p:spPr>
          <a:xfrm>
            <a:off x="4322547" y="2561403"/>
            <a:ext cx="4633285" cy="538609"/>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Mean Time To Repair (MTTR) is 6.02 hours. Analyzing MTTR for critical failures (7.97 hours) to identify opportunities for improving response speed.</a:t>
            </a:r>
          </a:p>
        </p:txBody>
      </p:sp>
      <p:sp>
        <p:nvSpPr>
          <p:cNvPr id="13" name="Text 7"/>
          <p:cNvSpPr/>
          <p:nvPr/>
        </p:nvSpPr>
        <p:spPr>
          <a:xfrm>
            <a:off x="4314825" y="3117652"/>
            <a:ext cx="4217501" cy="122662"/>
          </a:xfrm>
          <a:prstGeom prst="rect">
            <a:avLst/>
          </a:prstGeom>
          <a:noFill/>
          <a:ln/>
        </p:spPr>
        <p:txBody>
          <a:bodyPr wrap="none" lIns="0" tIns="0" rIns="0" bIns="0" rtlCol="0" anchor="t">
            <a:spAutoFit/>
          </a:bodyPr>
          <a:lstStyle/>
          <a:p>
            <a:pPr>
              <a:lnSpc>
                <a:spcPts val="900"/>
              </a:lnSpc>
            </a:pPr>
            <a:r>
              <a:rPr lang="en-US" sz="1100" b="1" dirty="0">
                <a:solidFill>
                  <a:srgbClr val="FF4500"/>
                </a:solidFill>
              </a:rPr>
              <a:t>✓ MTTR for Critical Failures: 7.97 hours | Response Speed Improvement</a:t>
            </a:r>
          </a:p>
        </p:txBody>
      </p:sp>
      <p:pic>
        <p:nvPicPr>
          <p:cNvPr id="14" name="Image 4" descr="preencoded.png"/>
          <p:cNvPicPr>
            <a:picLocks noChangeAspect="1"/>
          </p:cNvPicPr>
          <p:nvPr/>
        </p:nvPicPr>
        <p:blipFill>
          <a:blip r:embed="rId7"/>
          <a:stretch>
            <a:fillRect/>
          </a:stretch>
        </p:blipFill>
        <p:spPr>
          <a:xfrm>
            <a:off x="3943350" y="3448629"/>
            <a:ext cx="285750" cy="264319"/>
          </a:xfrm>
          <a:prstGeom prst="rect">
            <a:avLst/>
          </a:prstGeom>
        </p:spPr>
      </p:pic>
      <p:sp>
        <p:nvSpPr>
          <p:cNvPr id="15" name="Text 8"/>
          <p:cNvSpPr/>
          <p:nvPr/>
        </p:nvSpPr>
        <p:spPr>
          <a:xfrm>
            <a:off x="4371975" y="3240109"/>
            <a:ext cx="3343479" cy="436017"/>
          </a:xfrm>
          <a:prstGeom prst="rect">
            <a:avLst/>
          </a:prstGeom>
          <a:noFill/>
          <a:ln/>
        </p:spPr>
        <p:txBody>
          <a:bodyPr wrap="none" lIns="0" tIns="0" rIns="0" bIns="0" rtlCol="0" anchor="t">
            <a:spAutoFit/>
          </a:bodyPr>
          <a:lstStyle/>
          <a:p>
            <a:pPr>
              <a:lnSpc>
                <a:spcPts val="1700"/>
              </a:lnSpc>
            </a:pPr>
            <a:endParaRPr lang="en-US" sz="1600" b="1" dirty="0">
              <a:solidFill>
                <a:srgbClr val="1A1A1A"/>
              </a:solidFill>
            </a:endParaRPr>
          </a:p>
          <a:p>
            <a:pPr>
              <a:lnSpc>
                <a:spcPts val="1700"/>
              </a:lnSpc>
            </a:pPr>
            <a:r>
              <a:rPr lang="en-US" sz="1600" b="1" dirty="0">
                <a:solidFill>
                  <a:srgbClr val="1A1A1A"/>
                </a:solidFill>
              </a:rPr>
              <a:t>Linking Downtime to Production Losses</a:t>
            </a:r>
            <a:endParaRPr lang="en-US" dirty="0"/>
          </a:p>
        </p:txBody>
      </p:sp>
      <p:sp>
        <p:nvSpPr>
          <p:cNvPr id="16" name="Text 9"/>
          <p:cNvSpPr/>
          <p:nvPr/>
        </p:nvSpPr>
        <p:spPr>
          <a:xfrm>
            <a:off x="4325638" y="3619019"/>
            <a:ext cx="4643282" cy="359073"/>
          </a:xfrm>
          <a:prstGeom prst="rect">
            <a:avLst/>
          </a:prstGeom>
          <a:noFill/>
          <a:ln/>
        </p:spPr>
        <p:txBody>
          <a:bodyPr wrap="square" lIns="0" tIns="0" rIns="0" bIns="0" rtlCol="0" anchor="t">
            <a:spAutoFit/>
          </a:bodyPr>
          <a:lstStyle/>
          <a:p>
            <a:pPr>
              <a:lnSpc>
                <a:spcPts val="1400"/>
              </a:lnSpc>
            </a:pPr>
            <a:r>
              <a:rPr lang="en-US" sz="1200" dirty="0">
                <a:solidFill>
                  <a:srgbClr val="333333"/>
                </a:solidFill>
              </a:rPr>
              <a:t>Quantifying direct production losses from unplanned downtime (145.27K units/ton), helping prioritize repairs based on financial impact.</a:t>
            </a:r>
            <a:endParaRPr lang="en-US" dirty="0">
              <a:ea typeface="Calibri" panose="020F0502020204030204"/>
              <a:cs typeface="Calibri" panose="020F0502020204030204"/>
            </a:endParaRPr>
          </a:p>
        </p:txBody>
      </p:sp>
      <p:sp>
        <p:nvSpPr>
          <p:cNvPr id="17" name="Text 10"/>
          <p:cNvSpPr/>
          <p:nvPr/>
        </p:nvSpPr>
        <p:spPr>
          <a:xfrm>
            <a:off x="4333360" y="3982191"/>
            <a:ext cx="2997615" cy="122662"/>
          </a:xfrm>
          <a:prstGeom prst="rect">
            <a:avLst/>
          </a:prstGeom>
          <a:noFill/>
          <a:ln/>
        </p:spPr>
        <p:txBody>
          <a:bodyPr wrap="none" lIns="0" tIns="0" rIns="0" bIns="0" rtlCol="0" anchor="t">
            <a:spAutoFit/>
          </a:bodyPr>
          <a:lstStyle/>
          <a:p>
            <a:pPr indent="0">
              <a:lnSpc>
                <a:spcPts val="900"/>
              </a:lnSpc>
              <a:buNone/>
            </a:pPr>
            <a:r>
              <a:rPr lang="en-US" sz="1100" b="1" dirty="0">
                <a:solidFill>
                  <a:srgbClr val="FF4500"/>
                </a:solidFill>
              </a:rPr>
              <a:t>✓ Downtime-to-Loss Linkage | Repair Prioritization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25162" y="475478"/>
            <a:ext cx="4652620" cy="368049"/>
          </a:xfrm>
          <a:prstGeom prst="rect">
            <a:avLst/>
          </a:prstGeom>
          <a:noFill/>
          <a:ln/>
        </p:spPr>
        <p:txBody>
          <a:bodyPr wrap="none" lIns="0" tIns="0" rIns="0" bIns="85090" rtlCol="0" anchor="t">
            <a:spAutoFit/>
          </a:bodyPr>
          <a:lstStyle/>
          <a:p>
            <a:pPr indent="0">
              <a:lnSpc>
                <a:spcPts val="2200"/>
              </a:lnSpc>
              <a:buNone/>
            </a:pPr>
            <a:r>
              <a:rPr lang="en-US" sz="2000" b="1" dirty="0">
                <a:solidFill>
                  <a:srgbClr val="1A1A1A"/>
                </a:solidFill>
              </a:rPr>
              <a:t>Advanced Financial and Managerial Insights</a:t>
            </a:r>
          </a:p>
        </p:txBody>
      </p:sp>
      <p:sp>
        <p:nvSpPr>
          <p:cNvPr id="4" name="Text 1"/>
          <p:cNvSpPr/>
          <p:nvPr/>
        </p:nvSpPr>
        <p:spPr>
          <a:xfrm>
            <a:off x="571500" y="1203465"/>
            <a:ext cx="4800600" cy="682174"/>
          </a:xfrm>
          <a:prstGeom prst="rect">
            <a:avLst/>
          </a:prstGeom>
          <a:noFill/>
          <a:ln/>
        </p:spPr>
        <p:txBody>
          <a:bodyPr wrap="square" lIns="0" tIns="0" rIns="0" bIns="0" rtlCol="0" anchor="t">
            <a:spAutoFit/>
          </a:bodyPr>
          <a:lstStyle/>
          <a:p>
            <a:pPr>
              <a:lnSpc>
                <a:spcPts val="1800"/>
              </a:lnSpc>
            </a:pPr>
            <a:r>
              <a:rPr lang="en-US" sz="1400" dirty="0">
                <a:solidFill>
                  <a:srgbClr val="333333"/>
                </a:solidFill>
              </a:rPr>
              <a:t>The project provides comprehensive financial analysis to help management make informed strategic decisions about resource allocation and investments.</a:t>
            </a:r>
          </a:p>
        </p:txBody>
      </p:sp>
      <p:pic>
        <p:nvPicPr>
          <p:cNvPr id="5" name="Image 1" descr="preencoded.png"/>
          <p:cNvPicPr>
            <a:picLocks noChangeAspect="1"/>
          </p:cNvPicPr>
          <p:nvPr/>
        </p:nvPicPr>
        <p:blipFill>
          <a:blip r:embed="rId4"/>
          <a:stretch>
            <a:fillRect/>
          </a:stretch>
        </p:blipFill>
        <p:spPr>
          <a:xfrm>
            <a:off x="571500" y="1972094"/>
            <a:ext cx="200025" cy="214313"/>
          </a:xfrm>
          <a:prstGeom prst="rect">
            <a:avLst/>
          </a:prstGeom>
        </p:spPr>
      </p:pic>
      <p:sp>
        <p:nvSpPr>
          <p:cNvPr id="6" name="Text 2"/>
          <p:cNvSpPr/>
          <p:nvPr/>
        </p:nvSpPr>
        <p:spPr>
          <a:xfrm>
            <a:off x="878681" y="1972094"/>
            <a:ext cx="4493419" cy="175022"/>
          </a:xfrm>
          <a:prstGeom prst="rect">
            <a:avLst/>
          </a:prstGeom>
          <a:noFill/>
          <a:ln/>
        </p:spPr>
        <p:txBody>
          <a:bodyPr wrap="none" lIns="0" tIns="0" rIns="0" bIns="0" rtlCol="0" anchor="t">
            <a:spAutoFit/>
          </a:bodyPr>
          <a:lstStyle/>
          <a:p>
            <a:pPr indent="0">
              <a:lnSpc>
                <a:spcPts val="1700"/>
              </a:lnSpc>
              <a:buNone/>
            </a:pPr>
            <a:r>
              <a:rPr lang="en-US" sz="1600" b="1" dirty="0">
                <a:solidFill>
                  <a:srgbClr val="1A1A1A"/>
                </a:solidFill>
              </a:rPr>
              <a:t>Maintenance Cost Analysis</a:t>
            </a:r>
          </a:p>
        </p:txBody>
      </p:sp>
      <p:sp>
        <p:nvSpPr>
          <p:cNvPr id="7" name="Text 3"/>
          <p:cNvSpPr/>
          <p:nvPr/>
        </p:nvSpPr>
        <p:spPr>
          <a:xfrm>
            <a:off x="878681" y="2182834"/>
            <a:ext cx="4493419" cy="300038"/>
          </a:xfrm>
          <a:prstGeom prst="rect">
            <a:avLst/>
          </a:prstGeom>
          <a:noFill/>
          <a:ln/>
        </p:spPr>
        <p:txBody>
          <a:bodyPr wrap="square" lIns="0" tIns="0" rIns="0" bIns="0" rtlCol="0" anchor="t">
            <a:spAutoFit/>
          </a:bodyPr>
          <a:lstStyle/>
          <a:p>
            <a:pPr>
              <a:lnSpc>
                <a:spcPts val="1400"/>
              </a:lnSpc>
            </a:pPr>
            <a:r>
              <a:rPr lang="en-US" sz="1200" dirty="0">
                <a:solidFill>
                  <a:srgbClr val="333333"/>
                </a:solidFill>
              </a:rPr>
              <a:t>Detailing costs by component (Spare Parts 95.2%, Labor 3.5%, Other 1.2%) and maintenance category (Electrical, Mechanical, Instrumentation).</a:t>
            </a:r>
          </a:p>
        </p:txBody>
      </p:sp>
      <p:sp>
        <p:nvSpPr>
          <p:cNvPr id="8" name="Text 4"/>
          <p:cNvSpPr/>
          <p:nvPr/>
        </p:nvSpPr>
        <p:spPr>
          <a:xfrm>
            <a:off x="878681" y="2725655"/>
            <a:ext cx="1237518" cy="123816"/>
          </a:xfrm>
          <a:prstGeom prst="rect">
            <a:avLst/>
          </a:prstGeom>
          <a:noFill/>
          <a:ln/>
        </p:spPr>
        <p:txBody>
          <a:bodyPr wrap="none" lIns="0" tIns="0" rIns="0" bIns="0" rtlCol="0" anchor="t">
            <a:spAutoFit/>
          </a:bodyPr>
          <a:lstStyle/>
          <a:p>
            <a:pPr>
              <a:lnSpc>
                <a:spcPts val="900"/>
              </a:lnSpc>
            </a:pPr>
            <a:r>
              <a:rPr lang="en-US" sz="1100" b="1" dirty="0">
                <a:solidFill>
                  <a:srgbClr val="FF4500"/>
                </a:solidFill>
              </a:rPr>
              <a:t>Total Costs: $30.67M</a:t>
            </a:r>
          </a:p>
        </p:txBody>
      </p:sp>
      <p:pic>
        <p:nvPicPr>
          <p:cNvPr id="9" name="Image 2" descr="preencoded.png"/>
          <p:cNvPicPr>
            <a:picLocks noChangeAspect="1"/>
          </p:cNvPicPr>
          <p:nvPr/>
        </p:nvPicPr>
        <p:blipFill>
          <a:blip r:embed="rId5"/>
          <a:stretch>
            <a:fillRect/>
          </a:stretch>
        </p:blipFill>
        <p:spPr>
          <a:xfrm>
            <a:off x="571500" y="2849972"/>
            <a:ext cx="225028" cy="214313"/>
          </a:xfrm>
          <a:prstGeom prst="rect">
            <a:avLst/>
          </a:prstGeom>
        </p:spPr>
      </p:pic>
      <p:sp>
        <p:nvSpPr>
          <p:cNvPr id="10" name="Text 5"/>
          <p:cNvSpPr/>
          <p:nvPr/>
        </p:nvSpPr>
        <p:spPr>
          <a:xfrm>
            <a:off x="903684" y="2841690"/>
            <a:ext cx="2049151" cy="218008"/>
          </a:xfrm>
          <a:prstGeom prst="rect">
            <a:avLst/>
          </a:prstGeom>
          <a:noFill/>
          <a:ln/>
        </p:spPr>
        <p:txBody>
          <a:bodyPr wrap="none" lIns="0" tIns="0" rIns="0" bIns="0" rtlCol="0" anchor="t">
            <a:spAutoFit/>
          </a:bodyPr>
          <a:lstStyle/>
          <a:p>
            <a:pPr>
              <a:lnSpc>
                <a:spcPts val="1700"/>
              </a:lnSpc>
            </a:pPr>
            <a:r>
              <a:rPr lang="en-US" sz="1600" b="1" dirty="0">
                <a:solidFill>
                  <a:srgbClr val="1A1A1A"/>
                </a:solidFill>
              </a:rPr>
              <a:t>Downtime Cost Analysis</a:t>
            </a:r>
          </a:p>
        </p:txBody>
      </p:sp>
      <p:sp>
        <p:nvSpPr>
          <p:cNvPr id="11" name="Text 6"/>
          <p:cNvSpPr/>
          <p:nvPr/>
        </p:nvSpPr>
        <p:spPr>
          <a:xfrm>
            <a:off x="903684" y="3052431"/>
            <a:ext cx="4468416" cy="359073"/>
          </a:xfrm>
          <a:prstGeom prst="rect">
            <a:avLst/>
          </a:prstGeom>
          <a:noFill/>
          <a:ln/>
        </p:spPr>
        <p:txBody>
          <a:bodyPr wrap="square" lIns="0" tIns="0" rIns="0" bIns="0" rtlCol="0" anchor="t">
            <a:spAutoFit/>
          </a:bodyPr>
          <a:lstStyle/>
          <a:p>
            <a:pPr>
              <a:lnSpc>
                <a:spcPts val="1400"/>
              </a:lnSpc>
            </a:pPr>
            <a:r>
              <a:rPr lang="en-US" sz="1200" dirty="0">
                <a:solidFill>
                  <a:srgbClr val="333333"/>
                </a:solidFill>
              </a:rPr>
              <a:t>Identifying equipment with the highest downtime cost (e.g., Urea Granule Conveyor) to focus maintenance efforts on critical assets.</a:t>
            </a:r>
          </a:p>
        </p:txBody>
      </p:sp>
      <p:sp>
        <p:nvSpPr>
          <p:cNvPr id="12" name="Text 7"/>
          <p:cNvSpPr/>
          <p:nvPr/>
        </p:nvSpPr>
        <p:spPr>
          <a:xfrm>
            <a:off x="903684" y="3429600"/>
            <a:ext cx="1883529" cy="123816"/>
          </a:xfrm>
          <a:prstGeom prst="rect">
            <a:avLst/>
          </a:prstGeom>
          <a:noFill/>
          <a:ln/>
        </p:spPr>
        <p:txBody>
          <a:bodyPr wrap="none" lIns="0" tIns="0" rIns="0" bIns="0" rtlCol="0" anchor="t">
            <a:spAutoFit/>
          </a:bodyPr>
          <a:lstStyle/>
          <a:p>
            <a:pPr indent="0">
              <a:lnSpc>
                <a:spcPts val="900"/>
              </a:lnSpc>
              <a:buNone/>
            </a:pPr>
            <a:r>
              <a:rPr lang="en-US" sz="1100" b="1" dirty="0">
                <a:solidFill>
                  <a:srgbClr val="FF4500"/>
                </a:solidFill>
              </a:rPr>
              <a:t>Average Downtime Cost: $1,592</a:t>
            </a:r>
          </a:p>
        </p:txBody>
      </p:sp>
      <p:pic>
        <p:nvPicPr>
          <p:cNvPr id="13" name="Image 3" descr="preencoded.png"/>
          <p:cNvPicPr>
            <a:picLocks noChangeAspect="1"/>
          </p:cNvPicPr>
          <p:nvPr/>
        </p:nvPicPr>
        <p:blipFill>
          <a:blip r:embed="rId6"/>
          <a:stretch>
            <a:fillRect/>
          </a:stretch>
        </p:blipFill>
        <p:spPr>
          <a:xfrm>
            <a:off x="571500" y="3661590"/>
            <a:ext cx="175022" cy="214313"/>
          </a:xfrm>
          <a:prstGeom prst="rect">
            <a:avLst/>
          </a:prstGeom>
        </p:spPr>
      </p:pic>
      <p:sp>
        <p:nvSpPr>
          <p:cNvPr id="14" name="Text 8"/>
          <p:cNvSpPr/>
          <p:nvPr/>
        </p:nvSpPr>
        <p:spPr>
          <a:xfrm>
            <a:off x="853678" y="3661590"/>
            <a:ext cx="4518422" cy="175022"/>
          </a:xfrm>
          <a:prstGeom prst="rect">
            <a:avLst/>
          </a:prstGeom>
          <a:noFill/>
          <a:ln/>
        </p:spPr>
        <p:txBody>
          <a:bodyPr wrap="none" lIns="0" tIns="0" rIns="0" bIns="0" rtlCol="0" anchor="t">
            <a:spAutoFit/>
          </a:bodyPr>
          <a:lstStyle/>
          <a:p>
            <a:pPr indent="0">
              <a:lnSpc>
                <a:spcPts val="1700"/>
              </a:lnSpc>
              <a:buNone/>
            </a:pPr>
            <a:r>
              <a:rPr lang="en-US" sz="1600" b="1" dirty="0">
                <a:solidFill>
                  <a:srgbClr val="1A1A1A"/>
                </a:solidFill>
              </a:rPr>
              <a:t>Inventory Management</a:t>
            </a:r>
          </a:p>
        </p:txBody>
      </p:sp>
      <p:sp>
        <p:nvSpPr>
          <p:cNvPr id="15" name="Text 9"/>
          <p:cNvSpPr/>
          <p:nvPr/>
        </p:nvSpPr>
        <p:spPr>
          <a:xfrm>
            <a:off x="853678" y="3872331"/>
            <a:ext cx="4518422" cy="300038"/>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Monitoring total inventory value and identifying spare parts that have reached reorder level (32 items) to ensure availability.</a:t>
            </a:r>
          </a:p>
        </p:txBody>
      </p:sp>
      <p:sp>
        <p:nvSpPr>
          <p:cNvPr id="16" name="Text 10"/>
          <p:cNvSpPr/>
          <p:nvPr/>
        </p:nvSpPr>
        <p:spPr>
          <a:xfrm>
            <a:off x="853678" y="4257783"/>
            <a:ext cx="1857881" cy="123816"/>
          </a:xfrm>
          <a:prstGeom prst="rect">
            <a:avLst/>
          </a:prstGeom>
          <a:noFill/>
          <a:ln/>
        </p:spPr>
        <p:txBody>
          <a:bodyPr wrap="none" lIns="0" tIns="0" rIns="0" bIns="0" rtlCol="0" anchor="t">
            <a:spAutoFit/>
          </a:bodyPr>
          <a:lstStyle/>
          <a:p>
            <a:pPr>
              <a:lnSpc>
                <a:spcPts val="900"/>
              </a:lnSpc>
            </a:pPr>
            <a:r>
              <a:rPr lang="en-US" sz="1100" b="1" dirty="0">
                <a:solidFill>
                  <a:srgbClr val="FF4500"/>
                </a:solidFill>
              </a:rPr>
              <a:t>Total Inventory Value: $70.65M</a:t>
            </a:r>
          </a:p>
        </p:txBody>
      </p:sp>
      <p:sp>
        <p:nvSpPr>
          <p:cNvPr id="17" name="Shape 11"/>
          <p:cNvSpPr/>
          <p:nvPr/>
        </p:nvSpPr>
        <p:spPr>
          <a:xfrm>
            <a:off x="5372100" y="0"/>
            <a:ext cx="3771900" cy="5143500"/>
          </a:xfrm>
          <a:prstGeom prst="rect">
            <a:avLst/>
          </a:prstGeom>
          <a:solidFill>
            <a:srgbClr val="1A1A1A"/>
          </a:solidFill>
          <a:ln/>
        </p:spPr>
      </p:sp>
      <p:pic>
        <p:nvPicPr>
          <p:cNvPr id="18" name="Image 4" descr="preencoded.png"/>
          <p:cNvPicPr>
            <a:picLocks noChangeAspect="1"/>
          </p:cNvPicPr>
          <p:nvPr/>
        </p:nvPicPr>
        <p:blipFill>
          <a:blip r:embed="rId7"/>
          <a:stretch>
            <a:fillRect/>
          </a:stretch>
        </p:blipFill>
        <p:spPr>
          <a:xfrm>
            <a:off x="5643563" y="1717765"/>
            <a:ext cx="3228975" cy="17079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a:noFill/>
          <a:ln/>
        </p:spPr>
      </p:pic>
      <p:sp>
        <p:nvSpPr>
          <p:cNvPr id="3" name="Shape 0"/>
          <p:cNvSpPr/>
          <p:nvPr/>
        </p:nvSpPr>
        <p:spPr>
          <a:xfrm>
            <a:off x="0" y="0"/>
            <a:ext cx="3371850" cy="51435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285750" y="1658355"/>
            <a:ext cx="2800350" cy="1826791"/>
          </a:xfrm>
          <a:prstGeom prst="rect">
            <a:avLst/>
          </a:prstGeom>
        </p:spPr>
      </p:pic>
      <p:sp>
        <p:nvSpPr>
          <p:cNvPr id="5" name="Text 1"/>
          <p:cNvSpPr/>
          <p:nvPr/>
        </p:nvSpPr>
        <p:spPr>
          <a:xfrm>
            <a:off x="3943350" y="475478"/>
            <a:ext cx="4940601" cy="405408"/>
          </a:xfrm>
          <a:prstGeom prst="rect">
            <a:avLst/>
          </a:prstGeom>
          <a:noFill/>
          <a:ln/>
        </p:spPr>
        <p:txBody>
          <a:bodyPr wrap="none" lIns="0" tIns="0" rIns="0" bIns="85090" rtlCol="0" anchor="t">
            <a:spAutoFit/>
          </a:bodyPr>
          <a:lstStyle/>
          <a:p>
            <a:pPr>
              <a:lnSpc>
                <a:spcPts val="2200"/>
              </a:lnSpc>
            </a:pPr>
            <a:r>
              <a:rPr lang="en-US" sz="2000" b="1" dirty="0">
                <a:solidFill>
                  <a:srgbClr val="1A1A1A"/>
                </a:solidFill>
              </a:rPr>
              <a:t>Future Ideas: Strategic Roadmap</a:t>
            </a:r>
          </a:p>
        </p:txBody>
      </p:sp>
      <p:pic>
        <p:nvPicPr>
          <p:cNvPr id="6" name="Image 2" descr="preencoded.png"/>
          <p:cNvPicPr>
            <a:picLocks noChangeAspect="1"/>
          </p:cNvPicPr>
          <p:nvPr/>
        </p:nvPicPr>
        <p:blipFill>
          <a:blip r:embed="rId5"/>
          <a:stretch>
            <a:fillRect/>
          </a:stretch>
        </p:blipFill>
        <p:spPr>
          <a:xfrm>
            <a:off x="3943350" y="1061265"/>
            <a:ext cx="214313" cy="171450"/>
          </a:xfrm>
          <a:prstGeom prst="rect">
            <a:avLst/>
          </a:prstGeom>
        </p:spPr>
      </p:pic>
      <p:sp>
        <p:nvSpPr>
          <p:cNvPr id="7" name="Text 2"/>
          <p:cNvSpPr/>
          <p:nvPr/>
        </p:nvSpPr>
        <p:spPr>
          <a:xfrm>
            <a:off x="4243388" y="1059480"/>
            <a:ext cx="1492653" cy="175022"/>
          </a:xfrm>
          <a:prstGeom prst="rect">
            <a:avLst/>
          </a:prstGeom>
          <a:noFill/>
          <a:ln/>
        </p:spPr>
        <p:txBody>
          <a:bodyPr wrap="none" lIns="0" tIns="0" rIns="0" bIns="0" rtlCol="0" anchor="t">
            <a:spAutoFit/>
          </a:bodyPr>
          <a:lstStyle/>
          <a:p>
            <a:pPr>
              <a:lnSpc>
                <a:spcPts val="1700"/>
              </a:lnSpc>
            </a:pPr>
            <a:r>
              <a:rPr lang="en-US" sz="1600" b="1" dirty="0">
                <a:solidFill>
                  <a:srgbClr val="1A1A1A"/>
                </a:solidFill>
              </a:rPr>
              <a:t>Technical Development</a:t>
            </a:r>
          </a:p>
        </p:txBody>
      </p:sp>
      <p:sp>
        <p:nvSpPr>
          <p:cNvPr id="8" name="Text 3"/>
          <p:cNvSpPr/>
          <p:nvPr/>
        </p:nvSpPr>
        <p:spPr>
          <a:xfrm>
            <a:off x="4200525" y="1369922"/>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9" name="Text 4"/>
          <p:cNvSpPr/>
          <p:nvPr/>
        </p:nvSpPr>
        <p:spPr>
          <a:xfrm>
            <a:off x="4307681" y="1320226"/>
            <a:ext cx="4836319" cy="280002"/>
          </a:xfrm>
          <a:prstGeom prst="rect">
            <a:avLst/>
          </a:prstGeom>
          <a:noFill/>
          <a:ln/>
        </p:spPr>
        <p:txBody>
          <a:bodyPr wrap="square" lIns="0" tIns="0" rIns="0" bIns="0" rtlCol="0" anchor="t">
            <a:spAutoFit/>
          </a:bodyPr>
          <a:lstStyle/>
          <a:p>
            <a:pPr>
              <a:lnSpc>
                <a:spcPts val="1400"/>
              </a:lnSpc>
            </a:pPr>
            <a:r>
              <a:rPr lang="en-US" sz="1200" dirty="0">
                <a:solidFill>
                  <a:srgbClr val="333333"/>
                </a:solidFill>
              </a:rPr>
              <a:t>Predictive Maintenance: Integrating Machine Learning models to predict failures based on wear and corrosion patterns.</a:t>
            </a:r>
          </a:p>
        </p:txBody>
      </p:sp>
      <p:sp>
        <p:nvSpPr>
          <p:cNvPr id="10" name="Text 5"/>
          <p:cNvSpPr/>
          <p:nvPr/>
        </p:nvSpPr>
        <p:spPr>
          <a:xfrm>
            <a:off x="4200525" y="1698791"/>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11" name="Text 6"/>
          <p:cNvSpPr/>
          <p:nvPr/>
        </p:nvSpPr>
        <p:spPr>
          <a:xfrm>
            <a:off x="4307681" y="1657378"/>
            <a:ext cx="4836319" cy="280002"/>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Smart Automation: Developing an automated alert system and smart maintenance recommendations.</a:t>
            </a:r>
          </a:p>
        </p:txBody>
      </p:sp>
      <p:sp>
        <p:nvSpPr>
          <p:cNvPr id="12" name="Text 7"/>
          <p:cNvSpPr/>
          <p:nvPr/>
        </p:nvSpPr>
        <p:spPr>
          <a:xfrm>
            <a:off x="4200525" y="2044225"/>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13" name="Text 8"/>
          <p:cNvSpPr/>
          <p:nvPr/>
        </p:nvSpPr>
        <p:spPr>
          <a:xfrm>
            <a:off x="4315964" y="2011094"/>
            <a:ext cx="4809190" cy="359073"/>
          </a:xfrm>
          <a:prstGeom prst="rect">
            <a:avLst/>
          </a:prstGeom>
          <a:noFill/>
          <a:ln/>
        </p:spPr>
        <p:txBody>
          <a:bodyPr wrap="square" lIns="0" tIns="0" rIns="0" bIns="0" rtlCol="0" anchor="t">
            <a:spAutoFit/>
          </a:bodyPr>
          <a:lstStyle/>
          <a:p>
            <a:pPr>
              <a:lnSpc>
                <a:spcPts val="1400"/>
              </a:lnSpc>
            </a:pPr>
            <a:r>
              <a:rPr lang="en-US" sz="1200" dirty="0">
                <a:solidFill>
                  <a:srgbClr val="333333"/>
                </a:solidFill>
              </a:rPr>
              <a:t>Real-time Monitoring: Connecting the dashboard to SCADA/IoT systems for instant data feeds.</a:t>
            </a:r>
          </a:p>
        </p:txBody>
      </p:sp>
      <p:pic>
        <p:nvPicPr>
          <p:cNvPr id="14" name="Image 3" descr="preencoded.png"/>
          <p:cNvPicPr>
            <a:picLocks noChangeAspect="1"/>
          </p:cNvPicPr>
          <p:nvPr/>
        </p:nvPicPr>
        <p:blipFill>
          <a:blip r:embed="rId6"/>
          <a:stretch>
            <a:fillRect/>
          </a:stretch>
        </p:blipFill>
        <p:spPr>
          <a:xfrm>
            <a:off x="3943350" y="2384588"/>
            <a:ext cx="171450" cy="171450"/>
          </a:xfrm>
          <a:prstGeom prst="rect">
            <a:avLst/>
          </a:prstGeom>
        </p:spPr>
      </p:pic>
      <p:sp>
        <p:nvSpPr>
          <p:cNvPr id="15" name="Text 9"/>
          <p:cNvSpPr/>
          <p:nvPr/>
        </p:nvSpPr>
        <p:spPr>
          <a:xfrm>
            <a:off x="4200525" y="2366237"/>
            <a:ext cx="2160207" cy="218008"/>
          </a:xfrm>
          <a:prstGeom prst="rect">
            <a:avLst/>
          </a:prstGeom>
          <a:noFill/>
          <a:ln/>
        </p:spPr>
        <p:txBody>
          <a:bodyPr wrap="none" lIns="0" tIns="0" rIns="0" bIns="0" rtlCol="0" anchor="t">
            <a:spAutoFit/>
          </a:bodyPr>
          <a:lstStyle/>
          <a:p>
            <a:pPr indent="0">
              <a:lnSpc>
                <a:spcPts val="1700"/>
              </a:lnSpc>
              <a:buNone/>
            </a:pPr>
            <a:r>
              <a:rPr lang="en-US" sz="1600" b="1" dirty="0">
                <a:solidFill>
                  <a:srgbClr val="1A1A1A"/>
                </a:solidFill>
              </a:rPr>
              <a:t>Marketing and Expansion</a:t>
            </a:r>
          </a:p>
        </p:txBody>
      </p:sp>
      <p:sp>
        <p:nvSpPr>
          <p:cNvPr id="16" name="Text 10"/>
          <p:cNvSpPr/>
          <p:nvPr/>
        </p:nvSpPr>
        <p:spPr>
          <a:xfrm>
            <a:off x="4200525" y="2602136"/>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17" name="Text 11"/>
          <p:cNvSpPr/>
          <p:nvPr/>
        </p:nvSpPr>
        <p:spPr>
          <a:xfrm>
            <a:off x="4266268" y="2560722"/>
            <a:ext cx="4723651" cy="359073"/>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Scaling: Applying the solution to other departments and plants within the company.</a:t>
            </a:r>
          </a:p>
        </p:txBody>
      </p:sp>
      <p:sp>
        <p:nvSpPr>
          <p:cNvPr id="18" name="Text 12"/>
          <p:cNvSpPr/>
          <p:nvPr/>
        </p:nvSpPr>
        <p:spPr>
          <a:xfrm>
            <a:off x="4200525" y="2915243"/>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19" name="Text 13"/>
          <p:cNvSpPr/>
          <p:nvPr/>
        </p:nvSpPr>
        <p:spPr>
          <a:xfrm>
            <a:off x="4299398" y="2882112"/>
            <a:ext cx="4836319" cy="359073"/>
          </a:xfrm>
          <a:prstGeom prst="rect">
            <a:avLst/>
          </a:prstGeom>
          <a:noFill/>
          <a:ln/>
        </p:spPr>
        <p:txBody>
          <a:bodyPr wrap="square" lIns="0" tIns="0" rIns="0" bIns="0" rtlCol="0" anchor="t">
            <a:spAutoFit/>
          </a:bodyPr>
          <a:lstStyle/>
          <a:p>
            <a:pPr>
              <a:lnSpc>
                <a:spcPts val="1400"/>
              </a:lnSpc>
            </a:pPr>
            <a:r>
              <a:rPr lang="en-US" sz="1200" dirty="0">
                <a:solidFill>
                  <a:srgbClr val="333333"/>
                </a:solidFill>
              </a:rPr>
              <a:t>Full Integration: Complete integration with ERP and accounting systems to resolve financial discrepancies.</a:t>
            </a:r>
          </a:p>
        </p:txBody>
      </p:sp>
      <p:sp>
        <p:nvSpPr>
          <p:cNvPr id="20" name="Text 14"/>
          <p:cNvSpPr/>
          <p:nvPr/>
        </p:nvSpPr>
        <p:spPr>
          <a:xfrm>
            <a:off x="4200525" y="3227546"/>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21" name="Text 15"/>
          <p:cNvSpPr/>
          <p:nvPr/>
        </p:nvSpPr>
        <p:spPr>
          <a:xfrm>
            <a:off x="4299399" y="3219263"/>
            <a:ext cx="4764204" cy="359073"/>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Training and Support: Comprehensive training programs for maintenance and management teams.</a:t>
            </a:r>
          </a:p>
        </p:txBody>
      </p:sp>
      <p:pic>
        <p:nvPicPr>
          <p:cNvPr id="22" name="Image 4" descr="preencoded.png"/>
          <p:cNvPicPr>
            <a:picLocks noChangeAspect="1"/>
          </p:cNvPicPr>
          <p:nvPr/>
        </p:nvPicPr>
        <p:blipFill>
          <a:blip r:embed="rId7"/>
          <a:stretch>
            <a:fillRect/>
          </a:stretch>
        </p:blipFill>
        <p:spPr>
          <a:xfrm>
            <a:off x="3943350" y="3567908"/>
            <a:ext cx="171450" cy="171450"/>
          </a:xfrm>
          <a:prstGeom prst="rect">
            <a:avLst/>
          </a:prstGeom>
        </p:spPr>
      </p:pic>
      <p:sp>
        <p:nvSpPr>
          <p:cNvPr id="23" name="Text 16"/>
          <p:cNvSpPr/>
          <p:nvPr/>
        </p:nvSpPr>
        <p:spPr>
          <a:xfrm>
            <a:off x="4200525" y="3541275"/>
            <a:ext cx="1187954" cy="218008"/>
          </a:xfrm>
          <a:prstGeom prst="rect">
            <a:avLst/>
          </a:prstGeom>
          <a:noFill/>
          <a:ln/>
        </p:spPr>
        <p:txBody>
          <a:bodyPr wrap="none" lIns="0" tIns="0" rIns="0" bIns="0" rtlCol="0" anchor="t">
            <a:spAutoFit/>
          </a:bodyPr>
          <a:lstStyle/>
          <a:p>
            <a:pPr>
              <a:lnSpc>
                <a:spcPts val="1700"/>
              </a:lnSpc>
            </a:pPr>
            <a:r>
              <a:rPr lang="en-US" sz="1600" b="1" dirty="0">
                <a:solidFill>
                  <a:srgbClr val="1A1A1A"/>
                </a:solidFill>
              </a:rPr>
              <a:t>Key Initiatives</a:t>
            </a:r>
          </a:p>
        </p:txBody>
      </p:sp>
      <p:sp>
        <p:nvSpPr>
          <p:cNvPr id="24" name="Text 17"/>
          <p:cNvSpPr/>
          <p:nvPr/>
        </p:nvSpPr>
        <p:spPr>
          <a:xfrm>
            <a:off x="4200525" y="3760608"/>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25" name="Text 18"/>
          <p:cNvSpPr/>
          <p:nvPr/>
        </p:nvSpPr>
        <p:spPr>
          <a:xfrm>
            <a:off x="4307681" y="3727478"/>
            <a:ext cx="3649717" cy="179536"/>
          </a:xfrm>
          <a:prstGeom prst="rect">
            <a:avLst/>
          </a:prstGeom>
          <a:noFill/>
          <a:ln/>
        </p:spPr>
        <p:txBody>
          <a:bodyPr wrap="square" lIns="0" tIns="0" rIns="0" bIns="0" rtlCol="0" anchor="t">
            <a:spAutoFit/>
          </a:bodyPr>
          <a:lstStyle/>
          <a:p>
            <a:pPr>
              <a:lnSpc>
                <a:spcPts val="1400"/>
              </a:lnSpc>
            </a:pPr>
            <a:r>
              <a:rPr lang="en-US" sz="1200" dirty="0">
                <a:solidFill>
                  <a:srgbClr val="333333"/>
                </a:solidFill>
              </a:rPr>
              <a:t>Mobile accessibility for real-time performance monitoring.</a:t>
            </a:r>
          </a:p>
        </p:txBody>
      </p:sp>
      <p:sp>
        <p:nvSpPr>
          <p:cNvPr id="26" name="Text 19"/>
          <p:cNvSpPr/>
          <p:nvPr/>
        </p:nvSpPr>
        <p:spPr>
          <a:xfrm>
            <a:off x="4200525" y="3924629"/>
            <a:ext cx="5000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4500"/>
                </a:solidFill>
              </a:rPr>
              <a:t>▸</a:t>
            </a:r>
            <a:endParaRPr lang="en-US" sz="683" dirty="0"/>
          </a:p>
        </p:txBody>
      </p:sp>
      <p:sp>
        <p:nvSpPr>
          <p:cNvPr id="27" name="Text 20"/>
          <p:cNvSpPr/>
          <p:nvPr/>
        </p:nvSpPr>
        <p:spPr>
          <a:xfrm>
            <a:off x="4299399" y="3908063"/>
            <a:ext cx="4693085" cy="359073"/>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Resolving financial discrepancies between maintenance and accounting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75478"/>
            <a:ext cx="4320518" cy="405408"/>
          </a:xfrm>
          <a:prstGeom prst="rect">
            <a:avLst/>
          </a:prstGeom>
          <a:noFill/>
          <a:ln/>
        </p:spPr>
        <p:txBody>
          <a:bodyPr wrap="none" lIns="0" tIns="0" rIns="0" bIns="85090" rtlCol="0" anchor="t">
            <a:spAutoFit/>
          </a:bodyPr>
          <a:lstStyle/>
          <a:p>
            <a:pPr indent="0">
              <a:lnSpc>
                <a:spcPts val="2200"/>
              </a:lnSpc>
              <a:buNone/>
            </a:pPr>
            <a:r>
              <a:rPr lang="en-US" sz="2000" b="1" dirty="0">
                <a:solidFill>
                  <a:srgbClr val="1A1A1A"/>
                </a:solidFill>
              </a:rPr>
              <a:t>Conclusion and Call to Action</a:t>
            </a:r>
          </a:p>
        </p:txBody>
      </p:sp>
      <p:sp>
        <p:nvSpPr>
          <p:cNvPr id="4" name="Text 1"/>
          <p:cNvSpPr/>
          <p:nvPr/>
        </p:nvSpPr>
        <p:spPr>
          <a:xfrm>
            <a:off x="571500" y="982443"/>
            <a:ext cx="4800600" cy="1143839"/>
          </a:xfrm>
          <a:prstGeom prst="rect">
            <a:avLst/>
          </a:prstGeom>
          <a:noFill/>
          <a:ln/>
        </p:spPr>
        <p:txBody>
          <a:bodyPr wrap="square" lIns="0" tIns="0" rIns="0" bIns="0" rtlCol="0" anchor="t">
            <a:spAutoFit/>
          </a:bodyPr>
          <a:lstStyle/>
          <a:p>
            <a:pPr indent="0">
              <a:lnSpc>
                <a:spcPts val="1800"/>
              </a:lnSpc>
              <a:buNone/>
            </a:pPr>
            <a:r>
              <a:rPr lang="en-US" sz="1400" dirty="0">
                <a:solidFill>
                  <a:srgbClr val="333333"/>
                </a:solidFill>
              </a:rPr>
              <a:t>This project provides a powerful and effective tool for transforming maintenance data into strategic decisions. We have clearly identified key areas for improvement and the root causes of failures, delivering an integrated solution that supports reliability and efficiency improvements.</a:t>
            </a:r>
          </a:p>
        </p:txBody>
      </p:sp>
      <p:pic>
        <p:nvPicPr>
          <p:cNvPr id="5" name="Image 1" descr="preencoded.png"/>
          <p:cNvPicPr>
            <a:picLocks noChangeAspect="1"/>
          </p:cNvPicPr>
          <p:nvPr/>
        </p:nvPicPr>
        <p:blipFill>
          <a:blip r:embed="rId4"/>
          <a:stretch>
            <a:fillRect/>
          </a:stretch>
        </p:blipFill>
        <p:spPr>
          <a:xfrm>
            <a:off x="571500" y="2189531"/>
            <a:ext cx="171450" cy="185738"/>
          </a:xfrm>
          <a:prstGeom prst="rect">
            <a:avLst/>
          </a:prstGeom>
        </p:spPr>
      </p:pic>
      <p:sp>
        <p:nvSpPr>
          <p:cNvPr id="6" name="Text 2"/>
          <p:cNvSpPr/>
          <p:nvPr/>
        </p:nvSpPr>
        <p:spPr>
          <a:xfrm>
            <a:off x="850106" y="2189531"/>
            <a:ext cx="4521994" cy="342900"/>
          </a:xfrm>
          <a:prstGeom prst="rect">
            <a:avLst/>
          </a:prstGeom>
          <a:noFill/>
          <a:ln/>
        </p:spPr>
        <p:txBody>
          <a:bodyPr wrap="square" lIns="0" tIns="0" rIns="0" bIns="0" rtlCol="0" anchor="t">
            <a:spAutoFit/>
          </a:bodyPr>
          <a:lstStyle/>
          <a:p>
            <a:pPr>
              <a:lnSpc>
                <a:spcPts val="1400"/>
              </a:lnSpc>
            </a:pPr>
            <a:r>
              <a:rPr lang="en-US" sz="1200" b="1" dirty="0">
                <a:solidFill>
                  <a:srgbClr val="333333"/>
                </a:solidFill>
              </a:rPr>
              <a:t>Adopt the Dashboard:</a:t>
            </a:r>
            <a:r>
              <a:rPr lang="en-US" sz="1200" dirty="0">
                <a:solidFill>
                  <a:srgbClr val="333333"/>
                </a:solidFill>
              </a:rPr>
              <a:t> Use the dashboard as the official tool for performance monitoring and continuous KPI tracking.</a:t>
            </a:r>
          </a:p>
        </p:txBody>
      </p:sp>
      <p:pic>
        <p:nvPicPr>
          <p:cNvPr id="7" name="Image 2" descr="preencoded.png"/>
          <p:cNvPicPr>
            <a:picLocks noChangeAspect="1"/>
          </p:cNvPicPr>
          <p:nvPr/>
        </p:nvPicPr>
        <p:blipFill>
          <a:blip r:embed="rId4"/>
          <a:stretch>
            <a:fillRect/>
          </a:stretch>
        </p:blipFill>
        <p:spPr>
          <a:xfrm>
            <a:off x="571500" y="2661019"/>
            <a:ext cx="171450" cy="185738"/>
          </a:xfrm>
          <a:prstGeom prst="rect">
            <a:avLst/>
          </a:prstGeom>
        </p:spPr>
      </p:pic>
      <p:sp>
        <p:nvSpPr>
          <p:cNvPr id="8" name="Text 3"/>
          <p:cNvSpPr/>
          <p:nvPr/>
        </p:nvSpPr>
        <p:spPr>
          <a:xfrm>
            <a:off x="850106" y="2661019"/>
            <a:ext cx="4521994" cy="342900"/>
          </a:xfrm>
          <a:prstGeom prst="rect">
            <a:avLst/>
          </a:prstGeom>
          <a:noFill/>
          <a:ln/>
        </p:spPr>
        <p:txBody>
          <a:bodyPr wrap="square" lIns="0" tIns="0" rIns="0" bIns="0" rtlCol="0" anchor="t">
            <a:spAutoFit/>
          </a:bodyPr>
          <a:lstStyle/>
          <a:p>
            <a:pPr indent="0">
              <a:lnSpc>
                <a:spcPts val="1400"/>
              </a:lnSpc>
              <a:buNone/>
            </a:pPr>
            <a:r>
              <a:rPr lang="en-US" sz="1200" b="1" dirty="0">
                <a:solidFill>
                  <a:srgbClr val="333333"/>
                </a:solidFill>
              </a:rPr>
              <a:t>Approve the Roadmap:</a:t>
            </a:r>
            <a:r>
              <a:rPr lang="en-US" sz="1200" dirty="0">
                <a:solidFill>
                  <a:srgbClr val="333333"/>
                </a:solidFill>
              </a:rPr>
              <a:t> Approve the future roadmap to begin implementing predictive models and advanced maintenance strategies.</a:t>
            </a:r>
          </a:p>
        </p:txBody>
      </p:sp>
      <p:pic>
        <p:nvPicPr>
          <p:cNvPr id="9" name="Image 3" descr="preencoded.png"/>
          <p:cNvPicPr>
            <a:picLocks noChangeAspect="1"/>
          </p:cNvPicPr>
          <p:nvPr/>
        </p:nvPicPr>
        <p:blipFill>
          <a:blip r:embed="rId4"/>
          <a:stretch>
            <a:fillRect/>
          </a:stretch>
        </p:blipFill>
        <p:spPr>
          <a:xfrm>
            <a:off x="571500" y="3132506"/>
            <a:ext cx="171450" cy="185738"/>
          </a:xfrm>
          <a:prstGeom prst="rect">
            <a:avLst/>
          </a:prstGeom>
        </p:spPr>
      </p:pic>
      <p:sp>
        <p:nvSpPr>
          <p:cNvPr id="10" name="Text 4"/>
          <p:cNvSpPr/>
          <p:nvPr/>
        </p:nvSpPr>
        <p:spPr>
          <a:xfrm>
            <a:off x="850106" y="3132506"/>
            <a:ext cx="4521994" cy="342900"/>
          </a:xfrm>
          <a:prstGeom prst="rect">
            <a:avLst/>
          </a:prstGeom>
          <a:noFill/>
          <a:ln/>
        </p:spPr>
        <p:txBody>
          <a:bodyPr wrap="square" lIns="0" tIns="0" rIns="0" bIns="0" rtlCol="0" anchor="t">
            <a:spAutoFit/>
          </a:bodyPr>
          <a:lstStyle/>
          <a:p>
            <a:pPr>
              <a:lnSpc>
                <a:spcPts val="1400"/>
              </a:lnSpc>
            </a:pPr>
            <a:r>
              <a:rPr lang="en-US" sz="1200" b="1" dirty="0">
                <a:solidFill>
                  <a:srgbClr val="333333"/>
                </a:solidFill>
              </a:rPr>
              <a:t>Improve Data Quality:</a:t>
            </a:r>
            <a:r>
              <a:rPr lang="en-US" sz="1200" dirty="0">
                <a:solidFill>
                  <a:srgbClr val="333333"/>
                </a:solidFill>
              </a:rPr>
              <a:t> Enhance data recording procedures and resolve financial discrepancies to ensure analysis accuracy.</a:t>
            </a:r>
          </a:p>
        </p:txBody>
      </p:sp>
      <p:sp>
        <p:nvSpPr>
          <p:cNvPr id="11" name="Text 5"/>
          <p:cNvSpPr/>
          <p:nvPr/>
        </p:nvSpPr>
        <p:spPr>
          <a:xfrm>
            <a:off x="463826" y="3804019"/>
            <a:ext cx="4800600" cy="359073"/>
          </a:xfrm>
          <a:prstGeom prst="rect">
            <a:avLst/>
          </a:prstGeom>
          <a:noFill/>
          <a:ln/>
        </p:spPr>
        <p:txBody>
          <a:bodyPr wrap="square" lIns="0" tIns="0" rIns="0" bIns="0" rtlCol="0" anchor="t">
            <a:spAutoFit/>
          </a:bodyPr>
          <a:lstStyle/>
          <a:p>
            <a:pPr indent="0">
              <a:lnSpc>
                <a:spcPts val="1400"/>
              </a:lnSpc>
              <a:buNone/>
            </a:pPr>
            <a:r>
              <a:rPr lang="en-US" sz="1200" dirty="0">
                <a:solidFill>
                  <a:srgbClr val="333333"/>
                </a:solidFill>
              </a:rPr>
              <a:t>Thank you for your time and attention. We are ready to answer any questions and work with you to achieve the targeted results.</a:t>
            </a:r>
          </a:p>
        </p:txBody>
      </p:sp>
      <p:sp>
        <p:nvSpPr>
          <p:cNvPr id="12" name="Shape 6"/>
          <p:cNvSpPr/>
          <p:nvPr/>
        </p:nvSpPr>
        <p:spPr>
          <a:xfrm>
            <a:off x="5372100" y="0"/>
            <a:ext cx="3771900" cy="5143500"/>
          </a:xfrm>
          <a:prstGeom prst="rect">
            <a:avLst/>
          </a:prstGeom>
          <a:solidFill>
            <a:srgbClr val="1A1A1A"/>
          </a:solidFill>
          <a:ln/>
        </p:spPr>
      </p:sp>
      <p:pic>
        <p:nvPicPr>
          <p:cNvPr id="13" name="Image 4" descr="preencoded.png"/>
          <p:cNvPicPr>
            <a:picLocks noChangeAspect="1"/>
          </p:cNvPicPr>
          <p:nvPr/>
        </p:nvPicPr>
        <p:blipFill>
          <a:blip r:embed="rId5"/>
          <a:stretch>
            <a:fillRect/>
          </a:stretch>
        </p:blipFill>
        <p:spPr>
          <a:xfrm>
            <a:off x="5643563" y="1490672"/>
            <a:ext cx="3228975" cy="21621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142</cp:revision>
  <dcterms:created xsi:type="dcterms:W3CDTF">2025-11-30T12:42:02Z</dcterms:created>
  <dcterms:modified xsi:type="dcterms:W3CDTF">2025-11-30T20:51:18Z</dcterms:modified>
</cp:coreProperties>
</file>